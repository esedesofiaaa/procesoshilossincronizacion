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9" r:id="rId2"/>
    <p:sldId id="258" r:id="rId3"/>
    <p:sldId id="256" r:id="rId4"/>
    <p:sldId id="257" r:id="rId5"/>
  </p:sldIdLst>
  <p:sldSz cx="12192000" cy="6858000"/>
  <p:notesSz cx="6858000" cy="9144000"/>
  <p:defaultTextStyle>
    <a:defPPr>
      <a:defRPr lang="en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/>
    <p:restoredTop sz="94695"/>
  </p:normalViewPr>
  <p:slideViewPr>
    <p:cSldViewPr snapToGrid="0">
      <p:cViewPr varScale="1">
        <p:scale>
          <a:sx n="113" d="100"/>
          <a:sy n="113" d="100"/>
        </p:scale>
        <p:origin x="54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Usar </a:t>
            </a:r>
            <a:r>
              <a:rPr dirty="0" err="1"/>
              <a:t>este</a:t>
            </a:r>
            <a:r>
              <a:rPr dirty="0"/>
              <a:t> </a:t>
            </a:r>
            <a:r>
              <a:rPr dirty="0" err="1"/>
              <a:t>cuadro</a:t>
            </a:r>
            <a:r>
              <a:rPr dirty="0"/>
              <a:t> para </a:t>
            </a:r>
            <a:r>
              <a:rPr dirty="0" err="1"/>
              <a:t>comparar</a:t>
            </a:r>
            <a:r>
              <a:rPr dirty="0"/>
              <a:t> las </a:t>
            </a:r>
            <a:r>
              <a:rPr dirty="0" err="1"/>
              <a:t>técnicas</a:t>
            </a:r>
            <a:r>
              <a:rPr dirty="0"/>
              <a:t> y </a:t>
            </a:r>
            <a:r>
              <a:rPr dirty="0" err="1"/>
              <a:t>justificar</a:t>
            </a:r>
            <a:r>
              <a:rPr dirty="0"/>
              <a:t> las </a:t>
            </a:r>
            <a:r>
              <a:rPr dirty="0" err="1"/>
              <a:t>implementadas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laboratorio</a:t>
            </a:r>
            <a:r>
              <a:rPr dirty="0"/>
              <a:t>: </a:t>
            </a:r>
            <a:r>
              <a:rPr dirty="0" err="1"/>
              <a:t>BlockingQueue</a:t>
            </a:r>
            <a:r>
              <a:rPr dirty="0"/>
              <a:t> para </a:t>
            </a:r>
            <a:r>
              <a:rPr dirty="0" err="1"/>
              <a:t>coordinar</a:t>
            </a:r>
            <a:r>
              <a:rPr dirty="0"/>
              <a:t> productor-</a:t>
            </a:r>
            <a:r>
              <a:rPr dirty="0" err="1"/>
              <a:t>consumidor</a:t>
            </a:r>
            <a:r>
              <a:rPr dirty="0"/>
              <a:t> y CAS/</a:t>
            </a:r>
            <a:r>
              <a:rPr dirty="0" err="1"/>
              <a:t>AtomicBoolean</a:t>
            </a:r>
            <a:r>
              <a:rPr dirty="0"/>
              <a:t> para </a:t>
            </a:r>
            <a:r>
              <a:rPr dirty="0" err="1"/>
              <a:t>mantener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entrada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cliente</a:t>
            </a:r>
            <a:r>
              <a:rPr dirty="0"/>
              <a:t>. El </a:t>
            </a:r>
            <a:r>
              <a:rPr dirty="0" err="1"/>
              <a:t>confinamiento</a:t>
            </a:r>
            <a:r>
              <a:rPr dirty="0"/>
              <a:t> del Selector </a:t>
            </a:r>
            <a:r>
              <a:rPr dirty="0" err="1"/>
              <a:t>evita</a:t>
            </a:r>
            <a:r>
              <a:rPr dirty="0"/>
              <a:t> </a:t>
            </a:r>
            <a:r>
              <a:rPr dirty="0" err="1"/>
              <a:t>introducir</a:t>
            </a:r>
            <a:r>
              <a:rPr dirty="0"/>
              <a:t> un mutex </a:t>
            </a:r>
            <a:r>
              <a:rPr dirty="0" err="1"/>
              <a:t>sobre</a:t>
            </a:r>
            <a:r>
              <a:rPr dirty="0"/>
              <a:t> sockets.</a:t>
            </a:r>
          </a:p>
          <a:p>
            <a:endParaRPr dirty="0"/>
          </a:p>
          <a:p>
            <a:r>
              <a:rPr dirty="0"/>
              <a:t>[Sources]</a:t>
            </a:r>
          </a:p>
          <a:p>
            <a:r>
              <a:rPr dirty="0"/>
              <a:t>- /home/</a:t>
            </a:r>
            <a:r>
              <a:rPr dirty="0" err="1"/>
              <a:t>raul</a:t>
            </a:r>
            <a:r>
              <a:rPr dirty="0"/>
              <a:t>/Downloads/</a:t>
            </a:r>
            <a:r>
              <a:rPr dirty="0" err="1"/>
              <a:t>presentacion-procesos-hilos-sincronizacion.pptx</a:t>
            </a:r>
            <a:r>
              <a:rPr dirty="0"/>
              <a:t> (</a:t>
            </a:r>
            <a:r>
              <a:rPr dirty="0" err="1"/>
              <a:t>cuadro</a:t>
            </a:r>
            <a:r>
              <a:rPr dirty="0"/>
              <a:t> </a:t>
            </a:r>
            <a:r>
              <a:rPr dirty="0" err="1"/>
              <a:t>comparativo</a:t>
            </a:r>
            <a:r>
              <a:rPr dirty="0"/>
              <a:t> </a:t>
            </a:r>
            <a:r>
              <a:rPr dirty="0" err="1"/>
              <a:t>aportado</a:t>
            </a:r>
            <a:r>
              <a:rPr dirty="0"/>
              <a:t>)</a:t>
            </a:r>
          </a:p>
          <a:p>
            <a:r>
              <a:rPr dirty="0"/>
              <a:t>- /home/</a:t>
            </a:r>
            <a:r>
              <a:rPr dirty="0" err="1"/>
              <a:t>raul</a:t>
            </a:r>
            <a:r>
              <a:rPr dirty="0"/>
              <a:t>/Documents/Universidad/MateriasS8/</a:t>
            </a:r>
            <a:r>
              <a:rPr dirty="0" err="1"/>
              <a:t>Distribuidos</a:t>
            </a:r>
            <a:r>
              <a:rPr dirty="0"/>
              <a:t>/Labs/</a:t>
            </a:r>
            <a:r>
              <a:rPr dirty="0" err="1"/>
              <a:t>arquitectura</a:t>
            </a:r>
            <a:r>
              <a:rPr dirty="0"/>
              <a:t>-final-chat-selector-</a:t>
            </a:r>
            <a:r>
              <a:rPr dirty="0" err="1"/>
              <a:t>blockingqueue.md</a:t>
            </a:r>
            <a:endParaRPr dirty="0"/>
          </a:p>
          <a:p>
            <a:r>
              <a:rPr dirty="0"/>
              <a:t>- /home/</a:t>
            </a:r>
            <a:r>
              <a:rPr dirty="0" err="1"/>
              <a:t>raul</a:t>
            </a:r>
            <a:r>
              <a:rPr dirty="0"/>
              <a:t>/Documents/Universidad/MateriasS8/</a:t>
            </a:r>
            <a:r>
              <a:rPr dirty="0" err="1"/>
              <a:t>Distribuidos</a:t>
            </a:r>
            <a:r>
              <a:rPr dirty="0"/>
              <a:t>/Labs/</a:t>
            </a:r>
            <a:r>
              <a:rPr dirty="0" err="1"/>
              <a:t>Servidor</a:t>
            </a:r>
            <a:r>
              <a:rPr dirty="0"/>
              <a:t>-Java/</a:t>
            </a:r>
            <a:r>
              <a:rPr dirty="0" err="1"/>
              <a:t>src</a:t>
            </a:r>
            <a:r>
              <a:rPr dirty="0"/>
              <a:t>/main/java/chat/server/</a:t>
            </a:r>
            <a:r>
              <a:rPr dirty="0" err="1"/>
              <a:t>ServerContext.java</a:t>
            </a:r>
            <a:endParaRPr dirty="0"/>
          </a:p>
          <a:p>
            <a:r>
              <a:rPr dirty="0"/>
              <a:t>- /home/</a:t>
            </a:r>
            <a:r>
              <a:rPr dirty="0" err="1"/>
              <a:t>raul</a:t>
            </a:r>
            <a:r>
              <a:rPr dirty="0"/>
              <a:t>/Documents/Universidad/MateriasS8/</a:t>
            </a:r>
            <a:r>
              <a:rPr dirty="0" err="1"/>
              <a:t>Distribuidos</a:t>
            </a:r>
            <a:r>
              <a:rPr dirty="0"/>
              <a:t>/Labs/</a:t>
            </a:r>
            <a:r>
              <a:rPr dirty="0" err="1"/>
              <a:t>Servidor</a:t>
            </a:r>
            <a:r>
              <a:rPr dirty="0"/>
              <a:t>-Java/</a:t>
            </a:r>
            <a:r>
              <a:rPr dirty="0" err="1"/>
              <a:t>src</a:t>
            </a:r>
            <a:r>
              <a:rPr dirty="0"/>
              <a:t>/main/java/chat/server/</a:t>
            </a:r>
            <a:r>
              <a:rPr dirty="0" err="1"/>
              <a:t>ClientState.java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el diagrama como exposición completa. Recorrer de izquierda a derecha: clientes y TCP llegan al Selector; el Selector deposita mensajes en colas personales; publica clientes listos en BlockingQueue; un worker procesa un mensaje y prepara la salida; el Selector vuelve a escribir por OP_WRITE. Cerrar señalando la regla de corrección: serial por cliente, paralelo entre clientes.</a:t>
            </a:r>
          </a:p>
          <a:p>
            <a:endParaRPr/>
          </a:p>
          <a:p>
            <a:r>
              <a:t>[Sources]</a:t>
            </a:r>
          </a:p>
          <a:p>
            <a:r>
              <a:t>- /home/raul/Documents/Universidad/MateriasS8/Distribuidos/Labs/arquitectura-final-chat-selector-blockingqueue.md</a:t>
            </a:r>
          </a:p>
          <a:p>
            <a:r>
              <a:t>- /home/raul/Documents/Universidad/MateriasS8/Distribuidos/Labs/PROTOCOLO-CHAT.md</a:t>
            </a:r>
          </a:p>
          <a:p>
            <a:r>
              <a:t>- /home/raul/Documents/Universidad/MateriasS8/Distribuidos/Labs/Servidor-Java/src/main/java/chat/server/ServerContext.java</a:t>
            </a:r>
          </a:p>
          <a:p>
            <a:r>
              <a:t>- /home/raul/Documents/Universidad/MateriasS8/Distribuidos/Labs/Servidor-Java/src/main/java/chat/server/SelectorServer.java</a:t>
            </a:r>
          </a:p>
          <a:p>
            <a:r>
              <a:t>- /home/raul/Downloads/lectura-complementaria-3-procesos.pdf (secciones 3.1 y 3.4 sobre hilos, servidores concurrentes y llamadas no bloqueantes)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Usar esta diapositiva para explicar las decisiones, no para repetir el recorrido del mensaje. Para cada fila, responder dónde vive el mecanismo, por qué se eligió y qué propiedad protege. Destacar que el Selector se protege por confinamiento; la sincronización principal está en readyQueue y scheduled; FIFO preserva el orden por cliente; el pool habilita paralelismo; y la salida vuelve al Selector mediante comandos y OP_WRITE.</a:t>
            </a:r>
          </a:p>
          <a:p>
            <a:endParaRPr/>
          </a:p>
          <a:p>
            <a:r>
              <a:t>[Sources]</a:t>
            </a:r>
          </a:p>
          <a:p>
            <a:r>
              <a:t>- /home/raul/Documents/Universidad/MateriasS8/Distribuidos/Labs/arquitectura-final-chat-selector-blockingqueue.md (secciones 3-7 y 11)</a:t>
            </a:r>
          </a:p>
          <a:p>
            <a:r>
              <a:t>- /home/raul/Documents/Universidad/MateriasS8/Distribuidos/Labs/Servidor-Java/src/main/java/chat/server/SelectorServer.java</a:t>
            </a:r>
          </a:p>
          <a:p>
            <a:r>
              <a:t>- /home/raul/Documents/Universidad/MateriasS8/Distribuidos/Labs/Servidor-Java/src/main/java/chat/server/ClientState.java</a:t>
            </a:r>
          </a:p>
          <a:p>
            <a:r>
              <a:t>- /home/raul/Documents/Universidad/MateriasS8/Distribuidos/Labs/Servidor-Java/src/main/java/chat/server/ServerContext.java</a:t>
            </a:r>
          </a:p>
          <a:p>
            <a:r>
              <a:t>- /home/raul/Documents/Universidad/MateriasS8/Distribuidos/Labs/Servidor-Java/src/main/java/chat/server/Worker.java</a:t>
            </a:r>
          </a:p>
          <a:p>
            <a:r>
              <a:t>- /home/raul/Documents/Universidad/MateriasS8/Distribuidos/Labs/Servidor-Java/src/main/java/chat/app/ChatLogic.java</a:t>
            </a:r>
          </a:p>
          <a:p>
            <a:r>
              <a:t>- /home/raul/Documents/Universidad/MateriasS8/Distribuidos/Labs/Servidor-Java/src/main/java/chat/Main.java</a:t>
            </a:r>
          </a:p>
          <a:p>
            <a:r>
              <a:t>- /home/raul/Documents/Universidad/MateriasS8/Distribuidos/Labs/Servidor-Java/src/main/java/chat/server/Command.java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AEA07D-94BB-A72D-85E9-990A2645D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1" y="0"/>
            <a:ext cx="1218316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190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txt201">
            <a:extLst>
              <a:ext uri="{FF2B5EF4-FFF2-40B4-BE49-F238E27FC236}">
                <a16:creationId xmlns:a16="http://schemas.microsoft.com/office/drawing/2014/main" id="{9BF22391-0507-47F5-A562-E2A448E1A11F}"/>
              </a:ext>
            </a:extLst>
          </p:cNvPr>
          <p:cNvSpPr>
            <a:spLocks noGrp="1"/>
          </p:cNvSpPr>
          <p:nvPr/>
        </p:nvSpPr>
        <p:spPr>
          <a:xfrm>
            <a:off x="393192" y="237744"/>
            <a:ext cx="4764024" cy="21031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105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PROCESOS · HILOS · SINCRONIZACIÓN</a:t>
            </a:r>
          </a:p>
        </p:txBody>
      </p:sp>
      <p:sp>
        <p:nvSpPr>
          <p:cNvPr id="202" name="txt202">
            <a:extLst>
              <a:ext uri="{FF2B5EF4-FFF2-40B4-BE49-F238E27FC236}">
                <a16:creationId xmlns:a16="http://schemas.microsoft.com/office/drawing/2014/main" id="{BFF159CA-2AA5-420F-B4FB-C26CCB248C12}"/>
              </a:ext>
            </a:extLst>
          </p:cNvPr>
          <p:cNvSpPr>
            <a:spLocks noGrp="1"/>
          </p:cNvSpPr>
          <p:nvPr/>
        </p:nvSpPr>
        <p:spPr>
          <a:xfrm>
            <a:off x="393192" y="484632"/>
            <a:ext cx="8284464" cy="548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3450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Técnicas de sincronización de hilos</a:t>
            </a:r>
          </a:p>
        </p:txBody>
      </p:sp>
      <p:sp>
        <p:nvSpPr>
          <p:cNvPr id="208" name="box208">
            <a:extLst>
              <a:ext uri="{FF2B5EF4-FFF2-40B4-BE49-F238E27FC236}">
                <a16:creationId xmlns:a16="http://schemas.microsoft.com/office/drawing/2014/main" id="{C8C7A1D2-11A2-481E-97F9-BBC32535BC6F}"/>
              </a:ext>
            </a:extLst>
          </p:cNvPr>
          <p:cNvSpPr>
            <a:spLocks noGrp="1"/>
          </p:cNvSpPr>
          <p:nvPr/>
        </p:nvSpPr>
        <p:spPr>
          <a:xfrm>
            <a:off x="393192" y="1755648"/>
            <a:ext cx="11411712" cy="3785616"/>
          </a:xfrm>
          <a:prstGeom prst="roundRect">
            <a:avLst>
              <a:gd name="adj" fmla="val 6000"/>
            </a:avLst>
          </a:prstGeom>
          <a:solidFill>
            <a:srgbClr val="F7F9FB"/>
          </a:solidFill>
          <a:ln w="9525">
            <a:solidFill>
              <a:srgbClr val="D7E2E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9" name="txt209">
            <a:extLst>
              <a:ext uri="{FF2B5EF4-FFF2-40B4-BE49-F238E27FC236}">
                <a16:creationId xmlns:a16="http://schemas.microsoft.com/office/drawing/2014/main" id="{2EEF117B-F4DE-45AE-BF49-C78E2450312B}"/>
              </a:ext>
            </a:extLst>
          </p:cNvPr>
          <p:cNvSpPr>
            <a:spLocks noGrp="1"/>
          </p:cNvSpPr>
          <p:nvPr/>
        </p:nvSpPr>
        <p:spPr>
          <a:xfrm>
            <a:off x="539496" y="1901952"/>
            <a:ext cx="1764792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TÉCNICA</a:t>
            </a:r>
          </a:p>
        </p:txBody>
      </p:sp>
      <p:sp>
        <p:nvSpPr>
          <p:cNvPr id="210" name="txt210">
            <a:extLst>
              <a:ext uri="{FF2B5EF4-FFF2-40B4-BE49-F238E27FC236}">
                <a16:creationId xmlns:a16="http://schemas.microsoft.com/office/drawing/2014/main" id="{69522252-860E-4883-8C56-3DA23A2142E8}"/>
              </a:ext>
            </a:extLst>
          </p:cNvPr>
          <p:cNvSpPr>
            <a:spLocks noGrp="1"/>
          </p:cNvSpPr>
          <p:nvPr/>
        </p:nvSpPr>
        <p:spPr>
          <a:xfrm>
            <a:off x="2414016" y="1901952"/>
            <a:ext cx="192024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QUÉ GARANTIZA</a:t>
            </a:r>
          </a:p>
        </p:txBody>
      </p:sp>
      <p:sp>
        <p:nvSpPr>
          <p:cNvPr id="211" name="txt211">
            <a:extLst>
              <a:ext uri="{FF2B5EF4-FFF2-40B4-BE49-F238E27FC236}">
                <a16:creationId xmlns:a16="http://schemas.microsoft.com/office/drawing/2014/main" id="{C598CA4B-B8E9-4A82-A53F-33DD727678CF}"/>
              </a:ext>
            </a:extLst>
          </p:cNvPr>
          <p:cNvSpPr>
            <a:spLocks noGrp="1"/>
          </p:cNvSpPr>
          <p:nvPr/>
        </p:nvSpPr>
        <p:spPr>
          <a:xfrm>
            <a:off x="4443984" y="1901952"/>
            <a:ext cx="969264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CÓMO ESPERA</a:t>
            </a:r>
          </a:p>
        </p:txBody>
      </p:sp>
      <p:sp>
        <p:nvSpPr>
          <p:cNvPr id="212" name="txt212">
            <a:extLst>
              <a:ext uri="{FF2B5EF4-FFF2-40B4-BE49-F238E27FC236}">
                <a16:creationId xmlns:a16="http://schemas.microsoft.com/office/drawing/2014/main" id="{81C4A169-02CD-4DD2-8F1E-2F780A889B97}"/>
              </a:ext>
            </a:extLst>
          </p:cNvPr>
          <p:cNvSpPr>
            <a:spLocks noGrp="1"/>
          </p:cNvSpPr>
          <p:nvPr/>
        </p:nvSpPr>
        <p:spPr>
          <a:xfrm>
            <a:off x="5522976" y="1901952"/>
            <a:ext cx="1152144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COSTO</a:t>
            </a:r>
          </a:p>
        </p:txBody>
      </p:sp>
      <p:sp>
        <p:nvSpPr>
          <p:cNvPr id="213" name="txt213">
            <a:extLst>
              <a:ext uri="{FF2B5EF4-FFF2-40B4-BE49-F238E27FC236}">
                <a16:creationId xmlns:a16="http://schemas.microsoft.com/office/drawing/2014/main" id="{A38D8545-1082-432C-B483-F321504E9325}"/>
              </a:ext>
            </a:extLst>
          </p:cNvPr>
          <p:cNvSpPr>
            <a:spLocks noGrp="1"/>
          </p:cNvSpPr>
          <p:nvPr/>
        </p:nvSpPr>
        <p:spPr>
          <a:xfrm>
            <a:off x="6784848" y="1901952"/>
            <a:ext cx="2377440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RIESGO PRINCIPAL</a:t>
            </a:r>
          </a:p>
        </p:txBody>
      </p:sp>
      <p:sp>
        <p:nvSpPr>
          <p:cNvPr id="214" name="txt214">
            <a:extLst>
              <a:ext uri="{FF2B5EF4-FFF2-40B4-BE49-F238E27FC236}">
                <a16:creationId xmlns:a16="http://schemas.microsoft.com/office/drawing/2014/main" id="{F0C9849E-3ABA-4997-A752-867E4882B13E}"/>
              </a:ext>
            </a:extLst>
          </p:cNvPr>
          <p:cNvSpPr>
            <a:spLocks noGrp="1"/>
          </p:cNvSpPr>
          <p:nvPr/>
        </p:nvSpPr>
        <p:spPr>
          <a:xfrm>
            <a:off x="9272016" y="1901952"/>
            <a:ext cx="2569464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CUÁNDO CONVIENE</a:t>
            </a:r>
          </a:p>
        </p:txBody>
      </p:sp>
      <p:sp>
        <p:nvSpPr>
          <p:cNvPr id="215" name="box215">
            <a:extLst>
              <a:ext uri="{FF2B5EF4-FFF2-40B4-BE49-F238E27FC236}">
                <a16:creationId xmlns:a16="http://schemas.microsoft.com/office/drawing/2014/main" id="{E51B3FAE-5353-47F3-A6A0-5F3243A847C3}"/>
              </a:ext>
            </a:extLst>
          </p:cNvPr>
          <p:cNvSpPr>
            <a:spLocks noGrp="1"/>
          </p:cNvSpPr>
          <p:nvPr/>
        </p:nvSpPr>
        <p:spPr>
          <a:xfrm>
            <a:off x="539496" y="2157984"/>
            <a:ext cx="11119104" cy="12802"/>
          </a:xfrm>
          <a:prstGeom prst="rect">
            <a:avLst/>
          </a:prstGeom>
          <a:solidFill>
            <a:srgbClr val="D7E2E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6" name="box216">
            <a:extLst>
              <a:ext uri="{FF2B5EF4-FFF2-40B4-BE49-F238E27FC236}">
                <a16:creationId xmlns:a16="http://schemas.microsoft.com/office/drawing/2014/main" id="{722DF90C-57EE-4E7E-A5D1-F125D09C5BA1}"/>
              </a:ext>
            </a:extLst>
          </p:cNvPr>
          <p:cNvSpPr>
            <a:spLocks noGrp="1"/>
          </p:cNvSpPr>
          <p:nvPr/>
        </p:nvSpPr>
        <p:spPr>
          <a:xfrm>
            <a:off x="475488" y="3438144"/>
            <a:ext cx="11247120" cy="1060704"/>
          </a:xfrm>
          <a:prstGeom prst="roundRect">
            <a:avLst>
              <a:gd name="adj" fmla="val 9000"/>
            </a:avLst>
          </a:prstGeom>
          <a:solidFill>
            <a:srgbClr val="DDEE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7" name="box217">
            <a:extLst>
              <a:ext uri="{FF2B5EF4-FFF2-40B4-BE49-F238E27FC236}">
                <a16:creationId xmlns:a16="http://schemas.microsoft.com/office/drawing/2014/main" id="{CE306B71-74E5-42F1-8623-D3E3C94474A1}"/>
              </a:ext>
            </a:extLst>
          </p:cNvPr>
          <p:cNvSpPr>
            <a:spLocks noGrp="1"/>
          </p:cNvSpPr>
          <p:nvPr/>
        </p:nvSpPr>
        <p:spPr>
          <a:xfrm>
            <a:off x="475488" y="3438144"/>
            <a:ext cx="45720" cy="1060704"/>
          </a:xfrm>
          <a:prstGeom prst="rect">
            <a:avLst/>
          </a:prstGeom>
          <a:solidFill>
            <a:srgbClr val="3D8DFF"/>
          </a:solidFill>
          <a:ln w="0">
            <a:noFill/>
          </a:ln>
        </p:spPr>
        <p:txBody>
          <a:bodyPr/>
          <a:lstStyle/>
          <a:p>
            <a:endParaRPr/>
          </a:p>
        </p:txBody>
      </p:sp>
      <p:sp>
        <p:nvSpPr>
          <p:cNvPr id="218" name="txt218">
            <a:extLst>
              <a:ext uri="{FF2B5EF4-FFF2-40B4-BE49-F238E27FC236}">
                <a16:creationId xmlns:a16="http://schemas.microsoft.com/office/drawing/2014/main" id="{385C3EFB-3D82-40BA-B031-D4496C29E795}"/>
              </a:ext>
            </a:extLst>
          </p:cNvPr>
          <p:cNvSpPr>
            <a:spLocks noGrp="1"/>
          </p:cNvSpPr>
          <p:nvPr/>
        </p:nvSpPr>
        <p:spPr>
          <a:xfrm>
            <a:off x="539496" y="2249424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Mutex / synchronized</a:t>
            </a:r>
          </a:p>
        </p:txBody>
      </p:sp>
      <p:sp>
        <p:nvSpPr>
          <p:cNvPr id="219" name="txt219">
            <a:extLst>
              <a:ext uri="{FF2B5EF4-FFF2-40B4-BE49-F238E27FC236}">
                <a16:creationId xmlns:a16="http://schemas.microsoft.com/office/drawing/2014/main" id="{F2ACC454-A71A-42D4-AB19-EF2BDFAFC6A8}"/>
              </a:ext>
            </a:extLst>
          </p:cNvPr>
          <p:cNvSpPr>
            <a:spLocks noGrp="1"/>
          </p:cNvSpPr>
          <p:nvPr/>
        </p:nvSpPr>
        <p:spPr>
          <a:xfrm>
            <a:off x="2414016" y="2267712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Un hilo a la vez en la región crítica</a:t>
            </a:r>
          </a:p>
        </p:txBody>
      </p:sp>
      <p:sp>
        <p:nvSpPr>
          <p:cNvPr id="220" name="txt220">
            <a:extLst>
              <a:ext uri="{FF2B5EF4-FFF2-40B4-BE49-F238E27FC236}">
                <a16:creationId xmlns:a16="http://schemas.microsoft.com/office/drawing/2014/main" id="{B2CF14E3-774A-4901-ACDD-AA2BF8330B58}"/>
              </a:ext>
            </a:extLst>
          </p:cNvPr>
          <p:cNvSpPr>
            <a:spLocks noGrp="1"/>
          </p:cNvSpPr>
          <p:nvPr/>
        </p:nvSpPr>
        <p:spPr>
          <a:xfrm>
            <a:off x="4443984" y="2267712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21" name="txt221">
            <a:extLst>
              <a:ext uri="{FF2B5EF4-FFF2-40B4-BE49-F238E27FC236}">
                <a16:creationId xmlns:a16="http://schemas.microsoft.com/office/drawing/2014/main" id="{D4FE0F26-BBBD-46F7-9D2F-71A1ECAD96A1}"/>
              </a:ext>
            </a:extLst>
          </p:cNvPr>
          <p:cNvSpPr>
            <a:spLocks noGrp="1"/>
          </p:cNvSpPr>
          <p:nvPr/>
        </p:nvSpPr>
        <p:spPr>
          <a:xfrm>
            <a:off x="5522976" y="2267712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Bajo sin contención</a:t>
            </a:r>
          </a:p>
        </p:txBody>
      </p:sp>
      <p:sp>
        <p:nvSpPr>
          <p:cNvPr id="222" name="txt222">
            <a:extLst>
              <a:ext uri="{FF2B5EF4-FFF2-40B4-BE49-F238E27FC236}">
                <a16:creationId xmlns:a16="http://schemas.microsoft.com/office/drawing/2014/main" id="{AE599FD8-578B-495B-89CF-BA44221E3B9C}"/>
              </a:ext>
            </a:extLst>
          </p:cNvPr>
          <p:cNvSpPr>
            <a:spLocks noGrp="1"/>
          </p:cNvSpPr>
          <p:nvPr/>
        </p:nvSpPr>
        <p:spPr>
          <a:xfrm>
            <a:off x="6784848" y="2267712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Deadlock si se anidan mal</a:t>
            </a:r>
          </a:p>
        </p:txBody>
      </p:sp>
      <p:sp>
        <p:nvSpPr>
          <p:cNvPr id="223" name="txt223">
            <a:extLst>
              <a:ext uri="{FF2B5EF4-FFF2-40B4-BE49-F238E27FC236}">
                <a16:creationId xmlns:a16="http://schemas.microsoft.com/office/drawing/2014/main" id="{764632A7-84A2-41AF-8FCB-BF287D437BB9}"/>
              </a:ext>
            </a:extLst>
          </p:cNvPr>
          <p:cNvSpPr>
            <a:spLocks noGrp="1"/>
          </p:cNvSpPr>
          <p:nvPr/>
        </p:nvSpPr>
        <p:spPr>
          <a:xfrm>
            <a:off x="9272016" y="2267712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Proteger estado compartido pequeño</a:t>
            </a:r>
          </a:p>
        </p:txBody>
      </p:sp>
      <p:sp>
        <p:nvSpPr>
          <p:cNvPr id="224" name="txt224">
            <a:extLst>
              <a:ext uri="{FF2B5EF4-FFF2-40B4-BE49-F238E27FC236}">
                <a16:creationId xmlns:a16="http://schemas.microsoft.com/office/drawing/2014/main" id="{FE8056FF-CEC6-4F24-AC80-AF6F2EBE6A87}"/>
              </a:ext>
            </a:extLst>
          </p:cNvPr>
          <p:cNvSpPr>
            <a:spLocks noGrp="1"/>
          </p:cNvSpPr>
          <p:nvPr/>
        </p:nvSpPr>
        <p:spPr>
          <a:xfrm>
            <a:off x="539496" y="2670048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Semáforo</a:t>
            </a:r>
          </a:p>
        </p:txBody>
      </p:sp>
      <p:sp>
        <p:nvSpPr>
          <p:cNvPr id="225" name="txt225">
            <a:extLst>
              <a:ext uri="{FF2B5EF4-FFF2-40B4-BE49-F238E27FC236}">
                <a16:creationId xmlns:a16="http://schemas.microsoft.com/office/drawing/2014/main" id="{F0E602B3-48D7-41E9-A34B-D81A9C8046CA}"/>
              </a:ext>
            </a:extLst>
          </p:cNvPr>
          <p:cNvSpPr>
            <a:spLocks noGrp="1"/>
          </p:cNvSpPr>
          <p:nvPr/>
        </p:nvSpPr>
        <p:spPr>
          <a:xfrm>
            <a:off x="2414016" y="2688336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Máximo N accesos simultáneos</a:t>
            </a:r>
          </a:p>
        </p:txBody>
      </p:sp>
      <p:sp>
        <p:nvSpPr>
          <p:cNvPr id="226" name="txt226">
            <a:extLst>
              <a:ext uri="{FF2B5EF4-FFF2-40B4-BE49-F238E27FC236}">
                <a16:creationId xmlns:a16="http://schemas.microsoft.com/office/drawing/2014/main" id="{29A5C0B1-B1A0-4194-A85F-57446FBBEC7F}"/>
              </a:ext>
            </a:extLst>
          </p:cNvPr>
          <p:cNvSpPr>
            <a:spLocks noGrp="1"/>
          </p:cNvSpPr>
          <p:nvPr/>
        </p:nvSpPr>
        <p:spPr>
          <a:xfrm>
            <a:off x="4443984" y="2688336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27" name="txt227">
            <a:extLst>
              <a:ext uri="{FF2B5EF4-FFF2-40B4-BE49-F238E27FC236}">
                <a16:creationId xmlns:a16="http://schemas.microsoft.com/office/drawing/2014/main" id="{183CAB0A-60AD-45CD-B689-357659304AC3}"/>
              </a:ext>
            </a:extLst>
          </p:cNvPr>
          <p:cNvSpPr>
            <a:spLocks noGrp="1"/>
          </p:cNvSpPr>
          <p:nvPr/>
        </p:nvSpPr>
        <p:spPr>
          <a:xfrm>
            <a:off x="5522976" y="2688336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Bajo</a:t>
            </a:r>
          </a:p>
        </p:txBody>
      </p:sp>
      <p:sp>
        <p:nvSpPr>
          <p:cNvPr id="228" name="txt228">
            <a:extLst>
              <a:ext uri="{FF2B5EF4-FFF2-40B4-BE49-F238E27FC236}">
                <a16:creationId xmlns:a16="http://schemas.microsoft.com/office/drawing/2014/main" id="{7CB2A99A-C23A-4AA7-8633-6F614DB2E0A8}"/>
              </a:ext>
            </a:extLst>
          </p:cNvPr>
          <p:cNvSpPr>
            <a:spLocks noGrp="1"/>
          </p:cNvSpPr>
          <p:nvPr/>
        </p:nvSpPr>
        <p:spPr>
          <a:xfrm>
            <a:off x="6784848" y="2688336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Permisos que no se devuelven</a:t>
            </a:r>
          </a:p>
        </p:txBody>
      </p:sp>
      <p:sp>
        <p:nvSpPr>
          <p:cNvPr id="229" name="txt229">
            <a:extLst>
              <a:ext uri="{FF2B5EF4-FFF2-40B4-BE49-F238E27FC236}">
                <a16:creationId xmlns:a16="http://schemas.microsoft.com/office/drawing/2014/main" id="{D4EE2A7B-8C1A-4C12-BBCA-2C62AAAFDCDB}"/>
              </a:ext>
            </a:extLst>
          </p:cNvPr>
          <p:cNvSpPr>
            <a:spLocks noGrp="1"/>
          </p:cNvSpPr>
          <p:nvPr/>
        </p:nvSpPr>
        <p:spPr>
          <a:xfrm>
            <a:off x="9272016" y="2688336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Pools y cupos de concurrencia</a:t>
            </a:r>
          </a:p>
        </p:txBody>
      </p:sp>
      <p:sp>
        <p:nvSpPr>
          <p:cNvPr id="230" name="txt230">
            <a:extLst>
              <a:ext uri="{FF2B5EF4-FFF2-40B4-BE49-F238E27FC236}">
                <a16:creationId xmlns:a16="http://schemas.microsoft.com/office/drawing/2014/main" id="{8825B71F-0431-47A7-958A-C7EFD2CB5B6F}"/>
              </a:ext>
            </a:extLst>
          </p:cNvPr>
          <p:cNvSpPr>
            <a:spLocks noGrp="1"/>
          </p:cNvSpPr>
          <p:nvPr/>
        </p:nvSpPr>
        <p:spPr>
          <a:xfrm>
            <a:off x="539496" y="3090672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Monitor (wait/notify)</a:t>
            </a:r>
          </a:p>
        </p:txBody>
      </p:sp>
      <p:sp>
        <p:nvSpPr>
          <p:cNvPr id="231" name="txt231">
            <a:extLst>
              <a:ext uri="{FF2B5EF4-FFF2-40B4-BE49-F238E27FC236}">
                <a16:creationId xmlns:a16="http://schemas.microsoft.com/office/drawing/2014/main" id="{2C682006-CE4C-46E2-A426-68915F4E27FC}"/>
              </a:ext>
            </a:extLst>
          </p:cNvPr>
          <p:cNvSpPr>
            <a:spLocks noGrp="1"/>
          </p:cNvSpPr>
          <p:nvPr/>
        </p:nvSpPr>
        <p:spPr>
          <a:xfrm>
            <a:off x="2414016" y="3108960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Exclusión + espera por condición</a:t>
            </a:r>
          </a:p>
        </p:txBody>
      </p:sp>
      <p:sp>
        <p:nvSpPr>
          <p:cNvPr id="232" name="txt232">
            <a:extLst>
              <a:ext uri="{FF2B5EF4-FFF2-40B4-BE49-F238E27FC236}">
                <a16:creationId xmlns:a16="http://schemas.microsoft.com/office/drawing/2014/main" id="{C2CA283F-1C1D-432B-AFF1-7C25670F03BE}"/>
              </a:ext>
            </a:extLst>
          </p:cNvPr>
          <p:cNvSpPr>
            <a:spLocks noGrp="1"/>
          </p:cNvSpPr>
          <p:nvPr/>
        </p:nvSpPr>
        <p:spPr>
          <a:xfrm>
            <a:off x="4443984" y="3108960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33" name="txt233">
            <a:extLst>
              <a:ext uri="{FF2B5EF4-FFF2-40B4-BE49-F238E27FC236}">
                <a16:creationId xmlns:a16="http://schemas.microsoft.com/office/drawing/2014/main" id="{EAC8F389-9F2D-4473-A88F-E735281931B9}"/>
              </a:ext>
            </a:extLst>
          </p:cNvPr>
          <p:cNvSpPr>
            <a:spLocks noGrp="1"/>
          </p:cNvSpPr>
          <p:nvPr/>
        </p:nvSpPr>
        <p:spPr>
          <a:xfrm>
            <a:off x="5522976" y="3108960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Medio</a:t>
            </a:r>
          </a:p>
        </p:txBody>
      </p:sp>
      <p:sp>
        <p:nvSpPr>
          <p:cNvPr id="234" name="txt234">
            <a:extLst>
              <a:ext uri="{FF2B5EF4-FFF2-40B4-BE49-F238E27FC236}">
                <a16:creationId xmlns:a16="http://schemas.microsoft.com/office/drawing/2014/main" id="{E4CAEE64-3AAE-45FC-BC0F-C4F50F00FE59}"/>
              </a:ext>
            </a:extLst>
          </p:cNvPr>
          <p:cNvSpPr>
            <a:spLocks noGrp="1"/>
          </p:cNvSpPr>
          <p:nvPr/>
        </p:nvSpPr>
        <p:spPr>
          <a:xfrm>
            <a:off x="6784848" y="3108960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Señal perdida, despertar espurio</a:t>
            </a:r>
          </a:p>
        </p:txBody>
      </p:sp>
      <p:sp>
        <p:nvSpPr>
          <p:cNvPr id="235" name="txt235">
            <a:extLst>
              <a:ext uri="{FF2B5EF4-FFF2-40B4-BE49-F238E27FC236}">
                <a16:creationId xmlns:a16="http://schemas.microsoft.com/office/drawing/2014/main" id="{A032A406-9E94-4AF4-959D-29A9F3537ADF}"/>
              </a:ext>
            </a:extLst>
          </p:cNvPr>
          <p:cNvSpPr>
            <a:spLocks noGrp="1"/>
          </p:cNvSpPr>
          <p:nvPr/>
        </p:nvSpPr>
        <p:spPr>
          <a:xfrm>
            <a:off x="9272016" y="3108960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Esperar a que cambie una condición</a:t>
            </a:r>
          </a:p>
        </p:txBody>
      </p:sp>
      <p:sp>
        <p:nvSpPr>
          <p:cNvPr id="236" name="txt236">
            <a:extLst>
              <a:ext uri="{FF2B5EF4-FFF2-40B4-BE49-F238E27FC236}">
                <a16:creationId xmlns:a16="http://schemas.microsoft.com/office/drawing/2014/main" id="{D6C6D9B8-0208-4E3A-A599-94FA347C263F}"/>
              </a:ext>
            </a:extLst>
          </p:cNvPr>
          <p:cNvSpPr>
            <a:spLocks noGrp="1"/>
          </p:cNvSpPr>
          <p:nvPr/>
        </p:nvSpPr>
        <p:spPr>
          <a:xfrm>
            <a:off x="539496" y="3511296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BlockingQueue</a:t>
            </a:r>
          </a:p>
        </p:txBody>
      </p:sp>
      <p:sp>
        <p:nvSpPr>
          <p:cNvPr id="237" name="txt237">
            <a:extLst>
              <a:ext uri="{FF2B5EF4-FFF2-40B4-BE49-F238E27FC236}">
                <a16:creationId xmlns:a16="http://schemas.microsoft.com/office/drawing/2014/main" id="{23CD9965-2EA1-44EB-AE72-BFA9804F10A6}"/>
              </a:ext>
            </a:extLst>
          </p:cNvPr>
          <p:cNvSpPr>
            <a:spLocks noGrp="1"/>
          </p:cNvSpPr>
          <p:nvPr/>
        </p:nvSpPr>
        <p:spPr>
          <a:xfrm>
            <a:off x="2414016" y="3529584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Transferencia segura entre hilos</a:t>
            </a:r>
          </a:p>
        </p:txBody>
      </p:sp>
      <p:sp>
        <p:nvSpPr>
          <p:cNvPr id="238" name="txt238">
            <a:extLst>
              <a:ext uri="{FF2B5EF4-FFF2-40B4-BE49-F238E27FC236}">
                <a16:creationId xmlns:a16="http://schemas.microsoft.com/office/drawing/2014/main" id="{F2305C51-D4E4-4804-B37A-20FF69B655B3}"/>
              </a:ext>
            </a:extLst>
          </p:cNvPr>
          <p:cNvSpPr>
            <a:spLocks noGrp="1"/>
          </p:cNvSpPr>
          <p:nvPr/>
        </p:nvSpPr>
        <p:spPr>
          <a:xfrm>
            <a:off x="4443984" y="3529584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39" name="txt239">
            <a:extLst>
              <a:ext uri="{FF2B5EF4-FFF2-40B4-BE49-F238E27FC236}">
                <a16:creationId xmlns:a16="http://schemas.microsoft.com/office/drawing/2014/main" id="{7DEBBDD6-23F1-4FCC-8714-0303E07C882E}"/>
              </a:ext>
            </a:extLst>
          </p:cNvPr>
          <p:cNvSpPr>
            <a:spLocks noGrp="1"/>
          </p:cNvSpPr>
          <p:nvPr/>
        </p:nvSpPr>
        <p:spPr>
          <a:xfrm>
            <a:off x="5522976" y="3529584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Bajo, ya encapsulado</a:t>
            </a:r>
          </a:p>
        </p:txBody>
      </p:sp>
      <p:sp>
        <p:nvSpPr>
          <p:cNvPr id="240" name="txt240">
            <a:extLst>
              <a:ext uri="{FF2B5EF4-FFF2-40B4-BE49-F238E27FC236}">
                <a16:creationId xmlns:a16="http://schemas.microsoft.com/office/drawing/2014/main" id="{3D3BB6F8-214E-418B-96C3-AC29E2DD1D28}"/>
              </a:ext>
            </a:extLst>
          </p:cNvPr>
          <p:cNvSpPr>
            <a:spLocks noGrp="1"/>
          </p:cNvSpPr>
          <p:nvPr/>
        </p:nvSpPr>
        <p:spPr>
          <a:xfrm>
            <a:off x="6784848" y="3529584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Memoria si no se acota</a:t>
            </a:r>
          </a:p>
        </p:txBody>
      </p:sp>
      <p:sp>
        <p:nvSpPr>
          <p:cNvPr id="241" name="txt241">
            <a:extLst>
              <a:ext uri="{FF2B5EF4-FFF2-40B4-BE49-F238E27FC236}">
                <a16:creationId xmlns:a16="http://schemas.microsoft.com/office/drawing/2014/main" id="{39836685-B36F-4E68-A9C4-7EA80CB2794F}"/>
              </a:ext>
            </a:extLst>
          </p:cNvPr>
          <p:cNvSpPr>
            <a:spLocks noGrp="1"/>
          </p:cNvSpPr>
          <p:nvPr/>
        </p:nvSpPr>
        <p:spPr>
          <a:xfrm>
            <a:off x="9272016" y="3529584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Desacoplar productor de consumidores</a:t>
            </a:r>
          </a:p>
        </p:txBody>
      </p:sp>
      <p:sp>
        <p:nvSpPr>
          <p:cNvPr id="242" name="txt242">
            <a:extLst>
              <a:ext uri="{FF2B5EF4-FFF2-40B4-BE49-F238E27FC236}">
                <a16:creationId xmlns:a16="http://schemas.microsoft.com/office/drawing/2014/main" id="{C3509F0F-0E35-4068-B0C7-A778D72276AD}"/>
              </a:ext>
            </a:extLst>
          </p:cNvPr>
          <p:cNvSpPr>
            <a:spLocks noGrp="1"/>
          </p:cNvSpPr>
          <p:nvPr/>
        </p:nvSpPr>
        <p:spPr>
          <a:xfrm>
            <a:off x="539496" y="3931920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CAS / Atomic</a:t>
            </a:r>
          </a:p>
        </p:txBody>
      </p:sp>
      <p:sp>
        <p:nvSpPr>
          <p:cNvPr id="243" name="txt243">
            <a:extLst>
              <a:ext uri="{FF2B5EF4-FFF2-40B4-BE49-F238E27FC236}">
                <a16:creationId xmlns:a16="http://schemas.microsoft.com/office/drawing/2014/main" id="{99D8F579-BF04-4AC3-A6AE-DB650B36E939}"/>
              </a:ext>
            </a:extLst>
          </p:cNvPr>
          <p:cNvSpPr>
            <a:spLocks noGrp="1"/>
          </p:cNvSpPr>
          <p:nvPr/>
        </p:nvSpPr>
        <p:spPr>
          <a:xfrm>
            <a:off x="2414016" y="3950208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Actualización indivisible sin lock</a:t>
            </a:r>
          </a:p>
        </p:txBody>
      </p:sp>
      <p:sp>
        <p:nvSpPr>
          <p:cNvPr id="244" name="txt244">
            <a:extLst>
              <a:ext uri="{FF2B5EF4-FFF2-40B4-BE49-F238E27FC236}">
                <a16:creationId xmlns:a16="http://schemas.microsoft.com/office/drawing/2014/main" id="{216F180C-1096-4B37-9B46-77A366BB662A}"/>
              </a:ext>
            </a:extLst>
          </p:cNvPr>
          <p:cNvSpPr>
            <a:spLocks noGrp="1"/>
          </p:cNvSpPr>
          <p:nvPr/>
        </p:nvSpPr>
        <p:spPr>
          <a:xfrm>
            <a:off x="4443984" y="3950208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 dirty="0">
                <a:solidFill>
                  <a:srgbClr val="2E9D72"/>
                </a:solidFill>
                <a:latin typeface="Arial"/>
                <a:ea typeface="Arial"/>
                <a:cs typeface="Arial"/>
              </a:rPr>
              <a:t>No </a:t>
            </a:r>
            <a:r>
              <a:rPr sz="875" b="0" i="0" dirty="0" err="1">
                <a:solidFill>
                  <a:srgbClr val="2E9D72"/>
                </a:solidFill>
                <a:latin typeface="Arial"/>
                <a:ea typeface="Arial"/>
                <a:cs typeface="Arial"/>
              </a:rPr>
              <a:t>bloqueante</a:t>
            </a:r>
            <a:endParaRPr sz="875" b="0" i="0" dirty="0">
              <a:solidFill>
                <a:srgbClr val="2E9D72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5" name="txt245">
            <a:extLst>
              <a:ext uri="{FF2B5EF4-FFF2-40B4-BE49-F238E27FC236}">
                <a16:creationId xmlns:a16="http://schemas.microsoft.com/office/drawing/2014/main" id="{0CBB91C0-9504-46FD-B1FC-C204B683D2B4}"/>
              </a:ext>
            </a:extLst>
          </p:cNvPr>
          <p:cNvSpPr>
            <a:spLocks noGrp="1"/>
          </p:cNvSpPr>
          <p:nvPr/>
        </p:nvSpPr>
        <p:spPr>
          <a:xfrm>
            <a:off x="5522976" y="3950208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Muy bajo</a:t>
            </a:r>
          </a:p>
        </p:txBody>
      </p:sp>
      <p:sp>
        <p:nvSpPr>
          <p:cNvPr id="246" name="txt246">
            <a:extLst>
              <a:ext uri="{FF2B5EF4-FFF2-40B4-BE49-F238E27FC236}">
                <a16:creationId xmlns:a16="http://schemas.microsoft.com/office/drawing/2014/main" id="{EDB4374F-71AE-4171-BE3D-5711B6E19FD8}"/>
              </a:ext>
            </a:extLst>
          </p:cNvPr>
          <p:cNvSpPr>
            <a:spLocks noGrp="1"/>
          </p:cNvSpPr>
          <p:nvPr/>
        </p:nvSpPr>
        <p:spPr>
          <a:xfrm>
            <a:off x="6784848" y="3950208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Espera activa con mucha contención</a:t>
            </a:r>
          </a:p>
        </p:txBody>
      </p:sp>
      <p:sp>
        <p:nvSpPr>
          <p:cNvPr id="247" name="txt247">
            <a:extLst>
              <a:ext uri="{FF2B5EF4-FFF2-40B4-BE49-F238E27FC236}">
                <a16:creationId xmlns:a16="http://schemas.microsoft.com/office/drawing/2014/main" id="{1EB255ED-4F3C-4A90-9501-E80CD16B05C7}"/>
              </a:ext>
            </a:extLst>
          </p:cNvPr>
          <p:cNvSpPr>
            <a:spLocks noGrp="1"/>
          </p:cNvSpPr>
          <p:nvPr/>
        </p:nvSpPr>
        <p:spPr>
          <a:xfrm>
            <a:off x="9272016" y="3950208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Banderas y contadores</a:t>
            </a:r>
          </a:p>
        </p:txBody>
      </p:sp>
      <p:sp>
        <p:nvSpPr>
          <p:cNvPr id="248" name="txt248">
            <a:extLst>
              <a:ext uri="{FF2B5EF4-FFF2-40B4-BE49-F238E27FC236}">
                <a16:creationId xmlns:a16="http://schemas.microsoft.com/office/drawing/2014/main" id="{7785A0AD-FD1A-4049-8A4A-08796FC1417D}"/>
              </a:ext>
            </a:extLst>
          </p:cNvPr>
          <p:cNvSpPr>
            <a:spLocks noGrp="1"/>
          </p:cNvSpPr>
          <p:nvPr/>
        </p:nvSpPr>
        <p:spPr>
          <a:xfrm>
            <a:off x="539496" y="4617720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Barrera / Latch</a:t>
            </a:r>
          </a:p>
        </p:txBody>
      </p:sp>
      <p:sp>
        <p:nvSpPr>
          <p:cNvPr id="249" name="txt249">
            <a:extLst>
              <a:ext uri="{FF2B5EF4-FFF2-40B4-BE49-F238E27FC236}">
                <a16:creationId xmlns:a16="http://schemas.microsoft.com/office/drawing/2014/main" id="{44865682-0E3F-4755-992C-83FA8A25ADE2}"/>
              </a:ext>
            </a:extLst>
          </p:cNvPr>
          <p:cNvSpPr>
            <a:spLocks noGrp="1"/>
          </p:cNvSpPr>
          <p:nvPr/>
        </p:nvSpPr>
        <p:spPr>
          <a:xfrm>
            <a:off x="2414016" y="4636008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Todos llegan antes de continuar</a:t>
            </a:r>
          </a:p>
        </p:txBody>
      </p:sp>
      <p:sp>
        <p:nvSpPr>
          <p:cNvPr id="250" name="txt250">
            <a:extLst>
              <a:ext uri="{FF2B5EF4-FFF2-40B4-BE49-F238E27FC236}">
                <a16:creationId xmlns:a16="http://schemas.microsoft.com/office/drawing/2014/main" id="{AC646FD7-8DF3-416D-A5AD-A2D12739F5A1}"/>
              </a:ext>
            </a:extLst>
          </p:cNvPr>
          <p:cNvSpPr>
            <a:spLocks noGrp="1"/>
          </p:cNvSpPr>
          <p:nvPr/>
        </p:nvSpPr>
        <p:spPr>
          <a:xfrm>
            <a:off x="4443984" y="4636008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51" name="txt251">
            <a:extLst>
              <a:ext uri="{FF2B5EF4-FFF2-40B4-BE49-F238E27FC236}">
                <a16:creationId xmlns:a16="http://schemas.microsoft.com/office/drawing/2014/main" id="{2687DAE0-B5AD-48AC-AD15-053B8942E190}"/>
              </a:ext>
            </a:extLst>
          </p:cNvPr>
          <p:cNvSpPr>
            <a:spLocks noGrp="1"/>
          </p:cNvSpPr>
          <p:nvPr/>
        </p:nvSpPr>
        <p:spPr>
          <a:xfrm>
            <a:off x="5522976" y="4636008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Medio</a:t>
            </a:r>
          </a:p>
        </p:txBody>
      </p:sp>
      <p:sp>
        <p:nvSpPr>
          <p:cNvPr id="252" name="txt252">
            <a:extLst>
              <a:ext uri="{FF2B5EF4-FFF2-40B4-BE49-F238E27FC236}">
                <a16:creationId xmlns:a16="http://schemas.microsoft.com/office/drawing/2014/main" id="{B2E8C5CA-3B2B-47E6-B351-CA9914AD718E}"/>
              </a:ext>
            </a:extLst>
          </p:cNvPr>
          <p:cNvSpPr>
            <a:spLocks noGrp="1"/>
          </p:cNvSpPr>
          <p:nvPr/>
        </p:nvSpPr>
        <p:spPr>
          <a:xfrm>
            <a:off x="6784848" y="4636008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Se cuelga si uno no llega</a:t>
            </a:r>
          </a:p>
        </p:txBody>
      </p:sp>
      <p:sp>
        <p:nvSpPr>
          <p:cNvPr id="253" name="txt253">
            <a:extLst>
              <a:ext uri="{FF2B5EF4-FFF2-40B4-BE49-F238E27FC236}">
                <a16:creationId xmlns:a16="http://schemas.microsoft.com/office/drawing/2014/main" id="{B01DDFCE-230E-4DF3-B072-1991B2A9D8DC}"/>
              </a:ext>
            </a:extLst>
          </p:cNvPr>
          <p:cNvSpPr>
            <a:spLocks noGrp="1"/>
          </p:cNvSpPr>
          <p:nvPr/>
        </p:nvSpPr>
        <p:spPr>
          <a:xfrm>
            <a:off x="9272016" y="4636008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Cómputo paralelo por fases</a:t>
            </a:r>
          </a:p>
        </p:txBody>
      </p:sp>
      <p:sp>
        <p:nvSpPr>
          <p:cNvPr id="254" name="txt254">
            <a:extLst>
              <a:ext uri="{FF2B5EF4-FFF2-40B4-BE49-F238E27FC236}">
                <a16:creationId xmlns:a16="http://schemas.microsoft.com/office/drawing/2014/main" id="{D5202600-E384-4DC3-B68B-2CE63634181B}"/>
              </a:ext>
            </a:extLst>
          </p:cNvPr>
          <p:cNvSpPr>
            <a:spLocks noGrp="1"/>
          </p:cNvSpPr>
          <p:nvPr/>
        </p:nvSpPr>
        <p:spPr>
          <a:xfrm>
            <a:off x="539496" y="5038344"/>
            <a:ext cx="1764792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Confinamiento a hilo</a:t>
            </a:r>
          </a:p>
        </p:txBody>
      </p:sp>
      <p:sp>
        <p:nvSpPr>
          <p:cNvPr id="255" name="txt255">
            <a:extLst>
              <a:ext uri="{FF2B5EF4-FFF2-40B4-BE49-F238E27FC236}">
                <a16:creationId xmlns:a16="http://schemas.microsoft.com/office/drawing/2014/main" id="{2038F1D3-C1FD-4305-B97D-F0C4C745D184}"/>
              </a:ext>
            </a:extLst>
          </p:cNvPr>
          <p:cNvSpPr>
            <a:spLocks noGrp="1"/>
          </p:cNvSpPr>
          <p:nvPr/>
        </p:nvSpPr>
        <p:spPr>
          <a:xfrm>
            <a:off x="2414016" y="5056632"/>
            <a:ext cx="19202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Un solo hilo es dueño del estado</a:t>
            </a:r>
          </a:p>
        </p:txBody>
      </p:sp>
      <p:sp>
        <p:nvSpPr>
          <p:cNvPr id="256" name="txt256">
            <a:extLst>
              <a:ext uri="{FF2B5EF4-FFF2-40B4-BE49-F238E27FC236}">
                <a16:creationId xmlns:a16="http://schemas.microsoft.com/office/drawing/2014/main" id="{49808CD2-A3FA-4DA9-A28E-84E365D03EC5}"/>
              </a:ext>
            </a:extLst>
          </p:cNvPr>
          <p:cNvSpPr>
            <a:spLocks noGrp="1"/>
          </p:cNvSpPr>
          <p:nvPr/>
        </p:nvSpPr>
        <p:spPr>
          <a:xfrm>
            <a:off x="4443984" y="5056632"/>
            <a:ext cx="9692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No espera</a:t>
            </a:r>
          </a:p>
        </p:txBody>
      </p:sp>
      <p:sp>
        <p:nvSpPr>
          <p:cNvPr id="257" name="txt257">
            <a:extLst>
              <a:ext uri="{FF2B5EF4-FFF2-40B4-BE49-F238E27FC236}">
                <a16:creationId xmlns:a16="http://schemas.microsoft.com/office/drawing/2014/main" id="{A1514BE3-609C-4C48-81E5-622E57D51FC7}"/>
              </a:ext>
            </a:extLst>
          </p:cNvPr>
          <p:cNvSpPr>
            <a:spLocks noGrp="1"/>
          </p:cNvSpPr>
          <p:nvPr/>
        </p:nvSpPr>
        <p:spPr>
          <a:xfrm>
            <a:off x="5522976" y="5056632"/>
            <a:ext cx="115214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Nulo</a:t>
            </a:r>
          </a:p>
        </p:txBody>
      </p:sp>
      <p:sp>
        <p:nvSpPr>
          <p:cNvPr id="258" name="txt258">
            <a:extLst>
              <a:ext uri="{FF2B5EF4-FFF2-40B4-BE49-F238E27FC236}">
                <a16:creationId xmlns:a16="http://schemas.microsoft.com/office/drawing/2014/main" id="{445DE8A1-1740-4ACB-A831-68247CCB8C99}"/>
              </a:ext>
            </a:extLst>
          </p:cNvPr>
          <p:cNvSpPr>
            <a:spLocks noGrp="1"/>
          </p:cNvSpPr>
          <p:nvPr/>
        </p:nvSpPr>
        <p:spPr>
          <a:xfrm>
            <a:off x="6784848" y="5056632"/>
            <a:ext cx="2377440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No reparte la carga</a:t>
            </a:r>
          </a:p>
        </p:txBody>
      </p:sp>
      <p:sp>
        <p:nvSpPr>
          <p:cNvPr id="259" name="txt259">
            <a:extLst>
              <a:ext uri="{FF2B5EF4-FFF2-40B4-BE49-F238E27FC236}">
                <a16:creationId xmlns:a16="http://schemas.microsoft.com/office/drawing/2014/main" id="{33A29332-2333-4132-AA07-52A226A8BC86}"/>
              </a:ext>
            </a:extLst>
          </p:cNvPr>
          <p:cNvSpPr>
            <a:spLocks noGrp="1"/>
          </p:cNvSpPr>
          <p:nvPr/>
        </p:nvSpPr>
        <p:spPr>
          <a:xfrm>
            <a:off x="9272016" y="5056632"/>
            <a:ext cx="2569464" cy="365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lnSpc>
                <a:spcPct val="90000"/>
              </a:lnSpc>
              <a:buNone/>
            </a:pPr>
            <a:r>
              <a:rPr sz="8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Sockets y claves del Selector</a:t>
            </a:r>
          </a:p>
        </p:txBody>
      </p:sp>
      <p:sp>
        <p:nvSpPr>
          <p:cNvPr id="260" name="txt260">
            <a:extLst>
              <a:ext uri="{FF2B5EF4-FFF2-40B4-BE49-F238E27FC236}">
                <a16:creationId xmlns:a16="http://schemas.microsoft.com/office/drawing/2014/main" id="{E39ABBB5-3262-491E-82C5-4B08F7239E4A}"/>
              </a:ext>
            </a:extLst>
          </p:cNvPr>
          <p:cNvSpPr>
            <a:spLocks noGrp="1"/>
          </p:cNvSpPr>
          <p:nvPr/>
        </p:nvSpPr>
        <p:spPr>
          <a:xfrm>
            <a:off x="539496" y="4169664"/>
            <a:ext cx="6400800" cy="16459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800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▸ Las dos técnicas implementadas en la solución del laboratorio</a:t>
            </a:r>
          </a:p>
        </p:txBody>
      </p:sp>
      <p:sp>
        <p:nvSpPr>
          <p:cNvPr id="261" name="box261">
            <a:extLst>
              <a:ext uri="{FF2B5EF4-FFF2-40B4-BE49-F238E27FC236}">
                <a16:creationId xmlns:a16="http://schemas.microsoft.com/office/drawing/2014/main" id="{B228FC14-2082-4196-A141-1AD4E542E18F}"/>
              </a:ext>
            </a:extLst>
          </p:cNvPr>
          <p:cNvSpPr>
            <a:spLocks noGrp="1"/>
          </p:cNvSpPr>
          <p:nvPr/>
        </p:nvSpPr>
        <p:spPr>
          <a:xfrm>
            <a:off x="393192" y="5660136"/>
            <a:ext cx="11411712" cy="749808"/>
          </a:xfrm>
          <a:prstGeom prst="roundRect">
            <a:avLst>
              <a:gd name="adj" fmla="val 14000"/>
            </a:avLst>
          </a:prstGeom>
          <a:solidFill>
            <a:srgbClr val="16324F"/>
          </a:solidFill>
          <a:ln w="0">
            <a:noFill/>
          </a:ln>
        </p:spPr>
        <p:txBody>
          <a:bodyPr/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262" name="txt262">
            <a:extLst>
              <a:ext uri="{FF2B5EF4-FFF2-40B4-BE49-F238E27FC236}">
                <a16:creationId xmlns:a16="http://schemas.microsoft.com/office/drawing/2014/main" id="{2B381E29-6A8B-4199-A850-E3682579E461}"/>
              </a:ext>
            </a:extLst>
          </p:cNvPr>
          <p:cNvSpPr>
            <a:spLocks noGrp="1"/>
          </p:cNvSpPr>
          <p:nvPr/>
        </p:nvSpPr>
        <p:spPr>
          <a:xfrm>
            <a:off x="859536" y="5806440"/>
            <a:ext cx="3145536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Bloqueante</a:t>
            </a:r>
          </a:p>
        </p:txBody>
      </p:sp>
      <p:sp>
        <p:nvSpPr>
          <p:cNvPr id="263" name="txt263">
            <a:extLst>
              <a:ext uri="{FF2B5EF4-FFF2-40B4-BE49-F238E27FC236}">
                <a16:creationId xmlns:a16="http://schemas.microsoft.com/office/drawing/2014/main" id="{444DB6AC-D3F8-4231-801E-8467CE94981A}"/>
              </a:ext>
            </a:extLst>
          </p:cNvPr>
          <p:cNvSpPr>
            <a:spLocks noGrp="1"/>
          </p:cNvSpPr>
          <p:nvPr/>
        </p:nvSpPr>
        <p:spPr>
          <a:xfrm>
            <a:off x="859536" y="6044184"/>
            <a:ext cx="3291840" cy="1737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00" b="0" i="0" dirty="0" err="1">
                <a:solidFill>
                  <a:srgbClr val="CBD1D8"/>
                </a:solidFill>
                <a:latin typeface="Arial"/>
                <a:ea typeface="Arial"/>
                <a:cs typeface="Arial"/>
              </a:rPr>
              <a:t>el</a:t>
            </a:r>
            <a:r>
              <a:rPr sz="900" b="0" i="0" dirty="0">
                <a:solidFill>
                  <a:srgbClr val="CBD1D8"/>
                </a:solidFill>
                <a:latin typeface="Arial"/>
                <a:ea typeface="Arial"/>
                <a:cs typeface="Arial"/>
              </a:rPr>
              <a:t> </a:t>
            </a:r>
            <a:r>
              <a:rPr sz="900" b="0" i="0" dirty="0" err="1">
                <a:solidFill>
                  <a:srgbClr val="CBD1D8"/>
                </a:solidFill>
                <a:latin typeface="Arial"/>
                <a:ea typeface="Arial"/>
                <a:cs typeface="Arial"/>
              </a:rPr>
              <a:t>hilo</a:t>
            </a:r>
            <a:r>
              <a:rPr sz="900" b="0" i="0" dirty="0">
                <a:solidFill>
                  <a:srgbClr val="CBD1D8"/>
                </a:solidFill>
                <a:latin typeface="Arial"/>
                <a:ea typeface="Arial"/>
                <a:cs typeface="Arial"/>
              </a:rPr>
              <a:t> se </a:t>
            </a:r>
            <a:r>
              <a:rPr sz="900" b="0" i="0" dirty="0" err="1">
                <a:solidFill>
                  <a:srgbClr val="CBD1D8"/>
                </a:solidFill>
                <a:latin typeface="Arial"/>
                <a:ea typeface="Arial"/>
                <a:cs typeface="Arial"/>
              </a:rPr>
              <a:t>suspende</a:t>
            </a:r>
            <a:r>
              <a:rPr sz="900" b="0" i="0" dirty="0">
                <a:solidFill>
                  <a:srgbClr val="CBD1D8"/>
                </a:solidFill>
                <a:latin typeface="Arial"/>
                <a:ea typeface="Arial"/>
                <a:cs typeface="Arial"/>
              </a:rPr>
              <a:t> y no consume CPU</a:t>
            </a:r>
          </a:p>
        </p:txBody>
      </p:sp>
      <p:sp>
        <p:nvSpPr>
          <p:cNvPr id="264" name="txt264">
            <a:extLst>
              <a:ext uri="{FF2B5EF4-FFF2-40B4-BE49-F238E27FC236}">
                <a16:creationId xmlns:a16="http://schemas.microsoft.com/office/drawing/2014/main" id="{318B9BFD-652B-4669-911E-2DBB679F5F8E}"/>
              </a:ext>
            </a:extLst>
          </p:cNvPr>
          <p:cNvSpPr>
            <a:spLocks noGrp="1"/>
          </p:cNvSpPr>
          <p:nvPr/>
        </p:nvSpPr>
        <p:spPr>
          <a:xfrm>
            <a:off x="4535424" y="5806440"/>
            <a:ext cx="3145536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No bloqueante</a:t>
            </a:r>
          </a:p>
        </p:txBody>
      </p:sp>
      <p:sp>
        <p:nvSpPr>
          <p:cNvPr id="265" name="txt265">
            <a:extLst>
              <a:ext uri="{FF2B5EF4-FFF2-40B4-BE49-F238E27FC236}">
                <a16:creationId xmlns:a16="http://schemas.microsoft.com/office/drawing/2014/main" id="{8D2EC335-965A-4F7B-9044-6B8CA66CCF59}"/>
              </a:ext>
            </a:extLst>
          </p:cNvPr>
          <p:cNvSpPr>
            <a:spLocks noGrp="1"/>
          </p:cNvSpPr>
          <p:nvPr/>
        </p:nvSpPr>
        <p:spPr>
          <a:xfrm>
            <a:off x="4535424" y="6044184"/>
            <a:ext cx="3291840" cy="1737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00" b="0" i="0">
                <a:solidFill>
                  <a:srgbClr val="CBD1D8"/>
                </a:solidFill>
                <a:latin typeface="Arial"/>
                <a:ea typeface="Arial"/>
                <a:cs typeface="Arial"/>
              </a:rPr>
              <a:t>el hilo reintenta sin suspenderse jamás</a:t>
            </a:r>
          </a:p>
        </p:txBody>
      </p:sp>
      <p:sp>
        <p:nvSpPr>
          <p:cNvPr id="266" name="txt266">
            <a:extLst>
              <a:ext uri="{FF2B5EF4-FFF2-40B4-BE49-F238E27FC236}">
                <a16:creationId xmlns:a16="http://schemas.microsoft.com/office/drawing/2014/main" id="{A3AC17D5-30B0-4853-B2D9-FF4DA62FC51D}"/>
              </a:ext>
            </a:extLst>
          </p:cNvPr>
          <p:cNvSpPr>
            <a:spLocks noGrp="1"/>
          </p:cNvSpPr>
          <p:nvPr/>
        </p:nvSpPr>
        <p:spPr>
          <a:xfrm>
            <a:off x="8211312" y="5806440"/>
            <a:ext cx="3145536" cy="201168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1050" b="1" i="0">
                <a:solidFill>
                  <a:srgbClr val="F4B942"/>
                </a:solidFill>
                <a:latin typeface="Arial"/>
                <a:ea typeface="Arial"/>
                <a:cs typeface="Arial"/>
              </a:rPr>
              <a:t>En el laboratorio</a:t>
            </a:r>
          </a:p>
        </p:txBody>
      </p:sp>
      <p:sp>
        <p:nvSpPr>
          <p:cNvPr id="267" name="txt267">
            <a:extLst>
              <a:ext uri="{FF2B5EF4-FFF2-40B4-BE49-F238E27FC236}">
                <a16:creationId xmlns:a16="http://schemas.microsoft.com/office/drawing/2014/main" id="{A8F4BAB2-27F3-4CE4-8F42-2820B08DAE74}"/>
              </a:ext>
            </a:extLst>
          </p:cNvPr>
          <p:cNvSpPr>
            <a:spLocks noGrp="1"/>
          </p:cNvSpPr>
          <p:nvPr/>
        </p:nvSpPr>
        <p:spPr>
          <a:xfrm>
            <a:off x="8211312" y="6044184"/>
            <a:ext cx="3291840" cy="17373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sz="900" b="0" i="0">
                <a:solidFill>
                  <a:srgbClr val="CBD1D8"/>
                </a:solidFill>
                <a:latin typeface="Arial"/>
                <a:ea typeface="Arial"/>
                <a:cs typeface="Arial"/>
              </a:rPr>
              <a:t>BlockingQueue coordina · CAS ordena</a:t>
            </a:r>
          </a:p>
        </p:txBody>
      </p:sp>
      <p:sp>
        <p:nvSpPr>
          <p:cNvPr id="268" name="merged-page">
            <a:extLst>
              <a:ext uri="{FF2B5EF4-FFF2-40B4-BE49-F238E27FC236}">
                <a16:creationId xmlns:a16="http://schemas.microsoft.com/office/drawing/2014/main" id="{8912BD7A-79E6-47FC-81A2-879EEC4CAB6C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 algn="r">
              <a:defRPr sz="825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825">
                <a:solidFill>
                  <a:srgbClr val="59636E"/>
                </a:solidFill>
                <a:latin typeface="Arial"/>
                <a:ea typeface="Arial"/>
                <a:cs typeface="Arial"/>
              </a:rPr>
              <a:t>03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one-kicker">
            <a:extLst>
              <a:ext uri="{FF2B5EF4-FFF2-40B4-BE49-F238E27FC236}">
                <a16:creationId xmlns:a16="http://schemas.microsoft.com/office/drawing/2014/main" id="{6E39ED6D-5B35-4169-B8BA-984FAF0DD7CB}"/>
              </a:ext>
            </a:extLst>
          </p:cNvPr>
          <p:cNvSpPr>
            <a:spLocks noGrp="1"/>
          </p:cNvSpPr>
          <p:nvPr/>
        </p:nvSpPr>
        <p:spPr>
          <a:xfrm>
            <a:off x="390525" y="238125"/>
            <a:ext cx="4762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PROCESOS · HILOS · SINCRONIZACIÓN</a:t>
            </a:r>
          </a:p>
        </p:txBody>
      </p:sp>
      <p:sp>
        <p:nvSpPr>
          <p:cNvPr id="2" name="one-title">
            <a:extLst>
              <a:ext uri="{FF2B5EF4-FFF2-40B4-BE49-F238E27FC236}">
                <a16:creationId xmlns:a16="http://schemas.microsoft.com/office/drawing/2014/main" id="{6209FF21-0B61-4DAC-9245-B40140AF0B06}"/>
              </a:ext>
            </a:extLst>
          </p:cNvPr>
          <p:cNvSpPr>
            <a:spLocks noGrp="1"/>
          </p:cNvSpPr>
          <p:nvPr/>
        </p:nvSpPr>
        <p:spPr>
          <a:xfrm>
            <a:off x="390525" y="485775"/>
            <a:ext cx="8286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3450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3450" b="1" i="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Chat </a:t>
            </a:r>
            <a:r>
              <a:rPr sz="3450" b="1" i="0" dirty="0" err="1">
                <a:solidFill>
                  <a:srgbClr val="101820"/>
                </a:solidFill>
                <a:latin typeface="Arial"/>
                <a:ea typeface="Arial"/>
                <a:cs typeface="Arial"/>
              </a:rPr>
              <a:t>distribuido</a:t>
            </a:r>
            <a:r>
              <a:rPr sz="3450" b="1" i="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: </a:t>
            </a:r>
            <a:r>
              <a:rPr sz="3450" b="1" i="0" dirty="0" err="1">
                <a:solidFill>
                  <a:srgbClr val="101820"/>
                </a:solidFill>
                <a:latin typeface="Arial"/>
                <a:ea typeface="Arial"/>
                <a:cs typeface="Arial"/>
              </a:rPr>
              <a:t>orden</a:t>
            </a:r>
            <a:r>
              <a:rPr sz="3450" b="1" i="0" dirty="0">
                <a:solidFill>
                  <a:srgbClr val="101820"/>
                </a:solidFill>
                <a:latin typeface="Arial"/>
                <a:ea typeface="Arial"/>
                <a:cs typeface="Arial"/>
              </a:rPr>
              <a:t> y </a:t>
            </a:r>
            <a:r>
              <a:rPr sz="3450" b="1" i="0" dirty="0" err="1">
                <a:solidFill>
                  <a:srgbClr val="101820"/>
                </a:solidFill>
                <a:latin typeface="Arial"/>
                <a:ea typeface="Arial"/>
                <a:cs typeface="Arial"/>
              </a:rPr>
              <a:t>paralelismo</a:t>
            </a:r>
            <a:endParaRPr sz="3450" b="1" i="0" dirty="0">
              <a:solidFill>
                <a:srgbClr val="1018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one-subtitle">
            <a:extLst>
              <a:ext uri="{FF2B5EF4-FFF2-40B4-BE49-F238E27FC236}">
                <a16:creationId xmlns:a16="http://schemas.microsoft.com/office/drawing/2014/main" id="{C0229B3F-BF5C-4729-AE4B-33D0C5AE737C}"/>
              </a:ext>
            </a:extLst>
          </p:cNvPr>
          <p:cNvSpPr>
            <a:spLocks noGrp="1"/>
          </p:cNvSpPr>
          <p:nvPr/>
        </p:nvSpPr>
        <p:spPr>
          <a:xfrm>
            <a:off x="8810625" y="619125"/>
            <a:ext cx="29908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364"/>
          </a:bodyPr>
          <a:lstStyle/>
          <a:p>
            <a:pPr algn="r">
              <a:buNone/>
              <a:defRPr sz="1350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Selector único + BlockingQueue + workers</a:t>
            </a:r>
          </a:p>
        </p:txBody>
      </p:sp>
      <p:sp>
        <p:nvSpPr>
          <p:cNvPr id="4" name="one-title-rule">
            <a:extLst>
              <a:ext uri="{FF2B5EF4-FFF2-40B4-BE49-F238E27FC236}">
                <a16:creationId xmlns:a16="http://schemas.microsoft.com/office/drawing/2014/main" id="{6F5A9496-9A84-45E5-9483-2EAACE8A15C7}"/>
              </a:ext>
            </a:extLst>
          </p:cNvPr>
          <p:cNvSpPr>
            <a:spLocks noGrp="1"/>
          </p:cNvSpPr>
          <p:nvPr/>
        </p:nvSpPr>
        <p:spPr>
          <a:xfrm>
            <a:off x="390525" y="1200150"/>
            <a:ext cx="114109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one-protocol-bg">
            <a:extLst>
              <a:ext uri="{FF2B5EF4-FFF2-40B4-BE49-F238E27FC236}">
                <a16:creationId xmlns:a16="http://schemas.microsoft.com/office/drawing/2014/main" id="{696ED71B-7EAD-42F0-A975-2CDFBDB20FB7}"/>
              </a:ext>
            </a:extLst>
          </p:cNvPr>
          <p:cNvSpPr>
            <a:spLocks noGrp="1"/>
          </p:cNvSpPr>
          <p:nvPr/>
        </p:nvSpPr>
        <p:spPr>
          <a:xfrm>
            <a:off x="390525" y="1362075"/>
            <a:ext cx="2038350" cy="28575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" name="one-protocol">
            <a:extLst>
              <a:ext uri="{FF2B5EF4-FFF2-40B4-BE49-F238E27FC236}">
                <a16:creationId xmlns:a16="http://schemas.microsoft.com/office/drawing/2014/main" id="{494E4563-C2F4-4018-9427-18A21D3BAF90}"/>
              </a:ext>
            </a:extLst>
          </p:cNvPr>
          <p:cNvSpPr>
            <a:spLocks noGrp="1"/>
          </p:cNvSpPr>
          <p:nvPr/>
        </p:nvSpPr>
        <p:spPr>
          <a:xfrm>
            <a:off x="485775" y="1419225"/>
            <a:ext cx="1847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TCP · JSON UTF-8 ·\n</a:t>
            </a:r>
          </a:p>
        </p:txBody>
      </p:sp>
      <p:sp>
        <p:nvSpPr>
          <p:cNvPr id="7" name="one-protocol-explain">
            <a:extLst>
              <a:ext uri="{FF2B5EF4-FFF2-40B4-BE49-F238E27FC236}">
                <a16:creationId xmlns:a16="http://schemas.microsoft.com/office/drawing/2014/main" id="{544DF932-D0C3-4F0F-9681-90CAEBE288B5}"/>
              </a:ext>
            </a:extLst>
          </p:cNvPr>
          <p:cNvSpPr>
            <a:spLocks noGrp="1"/>
          </p:cNvSpPr>
          <p:nvPr/>
        </p:nvSpPr>
        <p:spPr>
          <a:xfrm>
            <a:off x="2590800" y="1419225"/>
            <a:ext cx="5619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El framing separa mensajes; el Selector separa ritmos.</a:t>
            </a:r>
          </a:p>
        </p:txBody>
      </p:sp>
      <p:sp>
        <p:nvSpPr>
          <p:cNvPr id="8" name="one-diagram-bg">
            <a:extLst>
              <a:ext uri="{FF2B5EF4-FFF2-40B4-BE49-F238E27FC236}">
                <a16:creationId xmlns:a16="http://schemas.microsoft.com/office/drawing/2014/main" id="{533B04D2-1BA8-47DD-B286-FA39013CED05}"/>
              </a:ext>
            </a:extLst>
          </p:cNvPr>
          <p:cNvSpPr>
            <a:spLocks noGrp="1"/>
          </p:cNvSpPr>
          <p:nvPr/>
        </p:nvSpPr>
        <p:spPr>
          <a:xfrm>
            <a:off x="390525" y="1743075"/>
            <a:ext cx="11410950" cy="3686175"/>
          </a:xfrm>
          <a:prstGeom prst="roundRect">
            <a:avLst>
              <a:gd name="adj" fmla="val 3618"/>
            </a:avLst>
          </a:prstGeom>
          <a:solidFill>
            <a:srgbClr val="F7F9FB"/>
          </a:solidFill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9" name="one-input-label">
            <a:extLst>
              <a:ext uri="{FF2B5EF4-FFF2-40B4-BE49-F238E27FC236}">
                <a16:creationId xmlns:a16="http://schemas.microsoft.com/office/drawing/2014/main" id="{90E7F913-111C-476F-A275-65815A23F827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ENTRADA</a:t>
            </a:r>
          </a:p>
        </p:txBody>
      </p:sp>
      <p:sp>
        <p:nvSpPr>
          <p:cNvPr id="10" name="one-process-label">
            <a:extLst>
              <a:ext uri="{FF2B5EF4-FFF2-40B4-BE49-F238E27FC236}">
                <a16:creationId xmlns:a16="http://schemas.microsoft.com/office/drawing/2014/main" id="{B6EF6D18-6BB0-44A2-AC7E-83DE76D1D2D3}"/>
              </a:ext>
            </a:extLst>
          </p:cNvPr>
          <p:cNvSpPr>
            <a:spLocks noGrp="1"/>
          </p:cNvSpPr>
          <p:nvPr/>
        </p:nvSpPr>
        <p:spPr>
          <a:xfrm>
            <a:off x="4810125" y="1924050"/>
            <a:ext cx="2190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PROCESAMIENTO</a:t>
            </a:r>
          </a:p>
        </p:txBody>
      </p:sp>
      <p:sp>
        <p:nvSpPr>
          <p:cNvPr id="11" name="one-output-label">
            <a:extLst>
              <a:ext uri="{FF2B5EF4-FFF2-40B4-BE49-F238E27FC236}">
                <a16:creationId xmlns:a16="http://schemas.microsoft.com/office/drawing/2014/main" id="{C19E5844-4FB8-495E-93C1-ED0FC5AACB46}"/>
              </a:ext>
            </a:extLst>
          </p:cNvPr>
          <p:cNvSpPr>
            <a:spLocks noGrp="1"/>
          </p:cNvSpPr>
          <p:nvPr/>
        </p:nvSpPr>
        <p:spPr>
          <a:xfrm>
            <a:off x="8934450" y="1924050"/>
            <a:ext cx="1428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942"/>
                </a:solidFill>
                <a:latin typeface="Arial"/>
                <a:ea typeface="Arial"/>
                <a:cs typeface="Arial"/>
              </a:rPr>
              <a:t>SALIDA</a:t>
            </a:r>
          </a:p>
        </p:txBody>
      </p:sp>
      <p:sp>
        <p:nvSpPr>
          <p:cNvPr id="12" name="one-a1">
            <a:extLst>
              <a:ext uri="{FF2B5EF4-FFF2-40B4-BE49-F238E27FC236}">
                <a16:creationId xmlns:a16="http://schemas.microsoft.com/office/drawing/2014/main" id="{70151B93-B6B3-4CE3-A395-F8853A3FB54A}"/>
              </a:ext>
            </a:extLst>
          </p:cNvPr>
          <p:cNvSpPr>
            <a:spLocks noGrp="1"/>
          </p:cNvSpPr>
          <p:nvPr/>
        </p:nvSpPr>
        <p:spPr>
          <a:xfrm>
            <a:off x="1809750" y="2686050"/>
            <a:ext cx="52387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3" name="one-a2">
            <a:extLst>
              <a:ext uri="{FF2B5EF4-FFF2-40B4-BE49-F238E27FC236}">
                <a16:creationId xmlns:a16="http://schemas.microsoft.com/office/drawing/2014/main" id="{51390735-D608-47C6-9A78-C348B0A43184}"/>
              </a:ext>
            </a:extLst>
          </p:cNvPr>
          <p:cNvSpPr>
            <a:spLocks noGrp="1"/>
          </p:cNvSpPr>
          <p:nvPr/>
        </p:nvSpPr>
        <p:spPr>
          <a:xfrm>
            <a:off x="1809750" y="3324225"/>
            <a:ext cx="52387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4" name="one-a3">
            <a:extLst>
              <a:ext uri="{FF2B5EF4-FFF2-40B4-BE49-F238E27FC236}">
                <a16:creationId xmlns:a16="http://schemas.microsoft.com/office/drawing/2014/main" id="{EB94444E-2EDB-41D0-9927-312B2DA3401B}"/>
              </a:ext>
            </a:extLst>
          </p:cNvPr>
          <p:cNvSpPr>
            <a:spLocks noGrp="1"/>
          </p:cNvSpPr>
          <p:nvPr/>
        </p:nvSpPr>
        <p:spPr>
          <a:xfrm>
            <a:off x="1809750" y="3962400"/>
            <a:ext cx="52387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5" name="one-a4">
            <a:extLst>
              <a:ext uri="{FF2B5EF4-FFF2-40B4-BE49-F238E27FC236}">
                <a16:creationId xmlns:a16="http://schemas.microsoft.com/office/drawing/2014/main" id="{1F26FD21-A1FC-4B77-8D5B-74633605B082}"/>
              </a:ext>
            </a:extLst>
          </p:cNvPr>
          <p:cNvSpPr>
            <a:spLocks noGrp="1"/>
          </p:cNvSpPr>
          <p:nvPr/>
        </p:nvSpPr>
        <p:spPr>
          <a:xfrm>
            <a:off x="4124325" y="3305175"/>
            <a:ext cx="42862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6" name="one-a5">
            <a:extLst>
              <a:ext uri="{FF2B5EF4-FFF2-40B4-BE49-F238E27FC236}">
                <a16:creationId xmlns:a16="http://schemas.microsoft.com/office/drawing/2014/main" id="{68AF6492-0896-4017-B0A1-9CFA987E515C}"/>
              </a:ext>
            </a:extLst>
          </p:cNvPr>
          <p:cNvSpPr>
            <a:spLocks noGrp="1"/>
          </p:cNvSpPr>
          <p:nvPr/>
        </p:nvSpPr>
        <p:spPr>
          <a:xfrm>
            <a:off x="6477000" y="3305175"/>
            <a:ext cx="42862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7" name="one-a6">
            <a:extLst>
              <a:ext uri="{FF2B5EF4-FFF2-40B4-BE49-F238E27FC236}">
                <a16:creationId xmlns:a16="http://schemas.microsoft.com/office/drawing/2014/main" id="{58C45C8E-5019-4048-87DF-CC389D2EF26D}"/>
              </a:ext>
            </a:extLst>
          </p:cNvPr>
          <p:cNvSpPr>
            <a:spLocks noGrp="1"/>
          </p:cNvSpPr>
          <p:nvPr/>
        </p:nvSpPr>
        <p:spPr>
          <a:xfrm>
            <a:off x="8810625" y="3305175"/>
            <a:ext cx="428625" cy="190500"/>
          </a:xfrm>
          <a:prstGeom prst="rightArrow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one-down-output">
            <a:extLst>
              <a:ext uri="{FF2B5EF4-FFF2-40B4-BE49-F238E27FC236}">
                <a16:creationId xmlns:a16="http://schemas.microsoft.com/office/drawing/2014/main" id="{D958F357-7715-4FF4-9FD1-C19A4ED64C24}"/>
              </a:ext>
            </a:extLst>
          </p:cNvPr>
          <p:cNvSpPr>
            <a:spLocks noGrp="1"/>
          </p:cNvSpPr>
          <p:nvPr/>
        </p:nvSpPr>
        <p:spPr>
          <a:xfrm>
            <a:off x="10191750" y="4200525"/>
            <a:ext cx="190500" cy="266700"/>
          </a:xfrm>
          <a:prstGeom prst="down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one-r1">
            <a:extLst>
              <a:ext uri="{FF2B5EF4-FFF2-40B4-BE49-F238E27FC236}">
                <a16:creationId xmlns:a16="http://schemas.microsoft.com/office/drawing/2014/main" id="{CB1F2685-A64E-4B42-AE16-66A687A9A7BD}"/>
              </a:ext>
            </a:extLst>
          </p:cNvPr>
          <p:cNvSpPr>
            <a:spLocks noGrp="1"/>
          </p:cNvSpPr>
          <p:nvPr/>
        </p:nvSpPr>
        <p:spPr>
          <a:xfrm>
            <a:off x="8810625" y="4686300"/>
            <a:ext cx="476250" cy="190500"/>
          </a:xfrm>
          <a:prstGeom prst="lef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0" name="one-r2">
            <a:extLst>
              <a:ext uri="{FF2B5EF4-FFF2-40B4-BE49-F238E27FC236}">
                <a16:creationId xmlns:a16="http://schemas.microsoft.com/office/drawing/2014/main" id="{6A03F76B-092F-4F5F-9590-7645D8ADE10D}"/>
              </a:ext>
            </a:extLst>
          </p:cNvPr>
          <p:cNvSpPr>
            <a:spLocks noGrp="1"/>
          </p:cNvSpPr>
          <p:nvPr/>
        </p:nvSpPr>
        <p:spPr>
          <a:xfrm>
            <a:off x="6705600" y="4686300"/>
            <a:ext cx="2047875" cy="190500"/>
          </a:xfrm>
          <a:prstGeom prst="lef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1" name="one-r3">
            <a:extLst>
              <a:ext uri="{FF2B5EF4-FFF2-40B4-BE49-F238E27FC236}">
                <a16:creationId xmlns:a16="http://schemas.microsoft.com/office/drawing/2014/main" id="{47E944B2-7E19-4273-BC94-FB75D804F208}"/>
              </a:ext>
            </a:extLst>
          </p:cNvPr>
          <p:cNvSpPr>
            <a:spLocks noGrp="1"/>
          </p:cNvSpPr>
          <p:nvPr/>
        </p:nvSpPr>
        <p:spPr>
          <a:xfrm>
            <a:off x="2667000" y="4686300"/>
            <a:ext cx="1857375" cy="190500"/>
          </a:xfrm>
          <a:prstGeom prst="leftArrow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2" name="one-client-a-box">
            <a:extLst>
              <a:ext uri="{FF2B5EF4-FFF2-40B4-BE49-F238E27FC236}">
                <a16:creationId xmlns:a16="http://schemas.microsoft.com/office/drawing/2014/main" id="{ADB89001-9F94-4596-959F-9F995D83DC40}"/>
              </a:ext>
            </a:extLst>
          </p:cNvPr>
          <p:cNvSpPr>
            <a:spLocks noGrp="1"/>
          </p:cNvSpPr>
          <p:nvPr/>
        </p:nvSpPr>
        <p:spPr>
          <a:xfrm>
            <a:off x="609600" y="2505075"/>
            <a:ext cx="1200150" cy="533400"/>
          </a:xfrm>
          <a:prstGeom prst="roundRect">
            <a:avLst>
              <a:gd name="adj" fmla="val 17857"/>
            </a:avLst>
          </a:prstGeom>
          <a:solidFill>
            <a:srgbClr val="DDEE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3" name="one-client-a-label">
            <a:extLst>
              <a:ext uri="{FF2B5EF4-FFF2-40B4-BE49-F238E27FC236}">
                <a16:creationId xmlns:a16="http://schemas.microsoft.com/office/drawing/2014/main" id="{B7A206F7-3A09-45C9-801F-4FF51EB97DE1}"/>
              </a:ext>
            </a:extLst>
          </p:cNvPr>
          <p:cNvSpPr>
            <a:spLocks noGrp="1"/>
          </p:cNvSpPr>
          <p:nvPr/>
        </p:nvSpPr>
        <p:spPr>
          <a:xfrm>
            <a:off x="704850" y="2600325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ctr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Cliente A</a:t>
            </a:r>
          </a:p>
        </p:txBody>
      </p:sp>
      <p:sp>
        <p:nvSpPr>
          <p:cNvPr id="24" name="one-client-a-sub">
            <a:extLst>
              <a:ext uri="{FF2B5EF4-FFF2-40B4-BE49-F238E27FC236}">
                <a16:creationId xmlns:a16="http://schemas.microsoft.com/office/drawing/2014/main" id="{20401E6B-F0CA-43DB-B9E3-601FE1AD6180}"/>
              </a:ext>
            </a:extLst>
          </p:cNvPr>
          <p:cNvSpPr>
            <a:spLocks noGrp="1"/>
          </p:cNvSpPr>
          <p:nvPr/>
        </p:nvSpPr>
        <p:spPr>
          <a:xfrm>
            <a:off x="704850" y="2809875"/>
            <a:ext cx="1009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privado</a:t>
            </a:r>
          </a:p>
        </p:txBody>
      </p:sp>
      <p:sp>
        <p:nvSpPr>
          <p:cNvPr id="25" name="one-client-b-box">
            <a:extLst>
              <a:ext uri="{FF2B5EF4-FFF2-40B4-BE49-F238E27FC236}">
                <a16:creationId xmlns:a16="http://schemas.microsoft.com/office/drawing/2014/main" id="{043678E3-0EDA-43F2-B0D6-F86A2B50B26D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1200150" cy="533400"/>
          </a:xfrm>
          <a:prstGeom prst="roundRect">
            <a:avLst>
              <a:gd name="adj" fmla="val 17857"/>
            </a:avLst>
          </a:prstGeom>
          <a:solidFill>
            <a:srgbClr val="DDEE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one-client-b-label">
            <a:extLst>
              <a:ext uri="{FF2B5EF4-FFF2-40B4-BE49-F238E27FC236}">
                <a16:creationId xmlns:a16="http://schemas.microsoft.com/office/drawing/2014/main" id="{AA13FD96-9688-4ACE-902C-003E0ECED46D}"/>
              </a:ext>
            </a:extLst>
          </p:cNvPr>
          <p:cNvSpPr>
            <a:spLocks noGrp="1"/>
          </p:cNvSpPr>
          <p:nvPr/>
        </p:nvSpPr>
        <p:spPr>
          <a:xfrm>
            <a:off x="704850" y="3238500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ctr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Cliente B</a:t>
            </a:r>
          </a:p>
        </p:txBody>
      </p:sp>
      <p:sp>
        <p:nvSpPr>
          <p:cNvPr id="27" name="one-client-b-sub">
            <a:extLst>
              <a:ext uri="{FF2B5EF4-FFF2-40B4-BE49-F238E27FC236}">
                <a16:creationId xmlns:a16="http://schemas.microsoft.com/office/drawing/2014/main" id="{E395DC22-53DE-471C-8ED6-2B7CBC52EE18}"/>
              </a:ext>
            </a:extLst>
          </p:cNvPr>
          <p:cNvSpPr>
            <a:spLocks noGrp="1"/>
          </p:cNvSpPr>
          <p:nvPr/>
        </p:nvSpPr>
        <p:spPr>
          <a:xfrm>
            <a:off x="704850" y="3448050"/>
            <a:ext cx="1009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grupo</a:t>
            </a:r>
          </a:p>
        </p:txBody>
      </p:sp>
      <p:sp>
        <p:nvSpPr>
          <p:cNvPr id="28" name="one-client-c-box">
            <a:extLst>
              <a:ext uri="{FF2B5EF4-FFF2-40B4-BE49-F238E27FC236}">
                <a16:creationId xmlns:a16="http://schemas.microsoft.com/office/drawing/2014/main" id="{00A8252F-4CE4-4467-BD8C-9EA33E7D0209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200150" cy="533400"/>
          </a:xfrm>
          <a:prstGeom prst="roundRect">
            <a:avLst>
              <a:gd name="adj" fmla="val 17857"/>
            </a:avLst>
          </a:prstGeom>
          <a:solidFill>
            <a:srgbClr val="DDEE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9" name="one-client-c-label">
            <a:extLst>
              <a:ext uri="{FF2B5EF4-FFF2-40B4-BE49-F238E27FC236}">
                <a16:creationId xmlns:a16="http://schemas.microsoft.com/office/drawing/2014/main" id="{4FD75BA9-C102-461D-A48D-C934AB91FC22}"/>
              </a:ext>
            </a:extLst>
          </p:cNvPr>
          <p:cNvSpPr>
            <a:spLocks noGrp="1"/>
          </p:cNvSpPr>
          <p:nvPr/>
        </p:nvSpPr>
        <p:spPr>
          <a:xfrm>
            <a:off x="704850" y="3876675"/>
            <a:ext cx="10096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3750"/>
          </a:bodyPr>
          <a:lstStyle/>
          <a:p>
            <a:pPr algn="ctr">
              <a:buNone/>
              <a:defRPr sz="12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Cliente C</a:t>
            </a:r>
          </a:p>
        </p:txBody>
      </p:sp>
      <p:sp>
        <p:nvSpPr>
          <p:cNvPr id="30" name="one-client-c-sub">
            <a:extLst>
              <a:ext uri="{FF2B5EF4-FFF2-40B4-BE49-F238E27FC236}">
                <a16:creationId xmlns:a16="http://schemas.microsoft.com/office/drawing/2014/main" id="{35C5B326-9A7C-46C4-BE18-48E4F704D64F}"/>
              </a:ext>
            </a:extLst>
          </p:cNvPr>
          <p:cNvSpPr>
            <a:spLocks noGrp="1"/>
          </p:cNvSpPr>
          <p:nvPr/>
        </p:nvSpPr>
        <p:spPr>
          <a:xfrm>
            <a:off x="704850" y="4086225"/>
            <a:ext cx="10096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privado</a:t>
            </a:r>
          </a:p>
        </p:txBody>
      </p:sp>
      <p:sp>
        <p:nvSpPr>
          <p:cNvPr id="31" name="one-selector-box">
            <a:extLst>
              <a:ext uri="{FF2B5EF4-FFF2-40B4-BE49-F238E27FC236}">
                <a16:creationId xmlns:a16="http://schemas.microsoft.com/office/drawing/2014/main" id="{9AA7B662-EFB3-4C83-BC18-54091017E2D0}"/>
              </a:ext>
            </a:extLst>
          </p:cNvPr>
          <p:cNvSpPr>
            <a:spLocks noGrp="1"/>
          </p:cNvSpPr>
          <p:nvPr/>
        </p:nvSpPr>
        <p:spPr>
          <a:xfrm>
            <a:off x="2362200" y="2476500"/>
            <a:ext cx="1762125" cy="1885950"/>
          </a:xfrm>
          <a:prstGeom prst="roundRect">
            <a:avLst>
              <a:gd name="adj" fmla="val 7568"/>
            </a:avLst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one-selector-title">
            <a:extLst>
              <a:ext uri="{FF2B5EF4-FFF2-40B4-BE49-F238E27FC236}">
                <a16:creationId xmlns:a16="http://schemas.microsoft.com/office/drawing/2014/main" id="{31447A3D-4CD1-4CBC-91A0-5D3F05B119A3}"/>
              </a:ext>
            </a:extLst>
          </p:cNvPr>
          <p:cNvSpPr>
            <a:spLocks noGrp="1"/>
          </p:cNvSpPr>
          <p:nvPr/>
        </p:nvSpPr>
        <p:spPr>
          <a:xfrm>
            <a:off x="2571750" y="2676525"/>
            <a:ext cx="13430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SELECTOR</a:t>
            </a:r>
          </a:p>
        </p:txBody>
      </p:sp>
      <p:sp>
        <p:nvSpPr>
          <p:cNvPr id="33" name="one-selector-main">
            <a:extLst>
              <a:ext uri="{FF2B5EF4-FFF2-40B4-BE49-F238E27FC236}">
                <a16:creationId xmlns:a16="http://schemas.microsoft.com/office/drawing/2014/main" id="{FA8E9CB9-5691-4FE0-A755-195AFE1239FD}"/>
              </a:ext>
            </a:extLst>
          </p:cNvPr>
          <p:cNvSpPr>
            <a:spLocks noGrp="1"/>
          </p:cNvSpPr>
          <p:nvPr/>
        </p:nvSpPr>
        <p:spPr>
          <a:xfrm>
            <a:off x="2571750" y="3076575"/>
            <a:ext cx="13430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 solo hilo</a:t>
            </a:r>
          </a:p>
          <a:p>
            <a:pPr algn="ctr">
              <a:buNone/>
              <a:defRPr sz="14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SocketChannel</a:t>
            </a:r>
          </a:p>
        </p:txBody>
      </p:sp>
      <p:sp>
        <p:nvSpPr>
          <p:cNvPr id="34" name="one-selector-rule">
            <a:extLst>
              <a:ext uri="{FF2B5EF4-FFF2-40B4-BE49-F238E27FC236}">
                <a16:creationId xmlns:a16="http://schemas.microsoft.com/office/drawing/2014/main" id="{696763F8-D6C5-4D90-BE4D-10A2AC155C24}"/>
              </a:ext>
            </a:extLst>
          </p:cNvPr>
          <p:cNvSpPr>
            <a:spLocks noGrp="1"/>
          </p:cNvSpPr>
          <p:nvPr/>
        </p:nvSpPr>
        <p:spPr>
          <a:xfrm>
            <a:off x="2667000" y="3724275"/>
            <a:ext cx="1152525" cy="0"/>
          </a:xfrm>
          <a:prstGeom prst="line">
            <a:avLst/>
          </a:prstGeom>
          <a:noFill/>
          <a:ln w="9525">
            <a:solidFill>
              <a:srgbClr val="6A88A6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5" name="one-selector-ops">
            <a:extLst>
              <a:ext uri="{FF2B5EF4-FFF2-40B4-BE49-F238E27FC236}">
                <a16:creationId xmlns:a16="http://schemas.microsoft.com/office/drawing/2014/main" id="{807A0AD8-870D-4DA5-ACAE-373F1F892A38}"/>
              </a:ext>
            </a:extLst>
          </p:cNvPr>
          <p:cNvSpPr>
            <a:spLocks noGrp="1"/>
          </p:cNvSpPr>
          <p:nvPr/>
        </p:nvSpPr>
        <p:spPr>
          <a:xfrm>
            <a:off x="2524125" y="3905250"/>
            <a:ext cx="1438275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359" lnSpcReduction="10000"/>
          </a:bodyPr>
          <a:lstStyle/>
          <a:p>
            <a:pPr algn="ctr">
              <a:buNone/>
              <a:defRPr sz="975" b="0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OP_ACCEPT · READ · WRITE</a:t>
            </a:r>
          </a:p>
        </p:txBody>
      </p:sp>
      <p:sp>
        <p:nvSpPr>
          <p:cNvPr id="36" name="one-input-queues">
            <a:extLst>
              <a:ext uri="{FF2B5EF4-FFF2-40B4-BE49-F238E27FC236}">
                <a16:creationId xmlns:a16="http://schemas.microsoft.com/office/drawing/2014/main" id="{31FC6A4E-F527-4092-A160-A66154C6DD30}"/>
              </a:ext>
            </a:extLst>
          </p:cNvPr>
          <p:cNvSpPr>
            <a:spLocks noGrp="1"/>
          </p:cNvSpPr>
          <p:nvPr/>
        </p:nvSpPr>
        <p:spPr>
          <a:xfrm>
            <a:off x="4648200" y="2619375"/>
            <a:ext cx="1809750" cy="1381125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7" name="one-input-queues-title">
            <a:extLst>
              <a:ext uri="{FF2B5EF4-FFF2-40B4-BE49-F238E27FC236}">
                <a16:creationId xmlns:a16="http://schemas.microsoft.com/office/drawing/2014/main" id="{6A7720A7-EADC-483A-BE57-597003448F22}"/>
              </a:ext>
            </a:extLst>
          </p:cNvPr>
          <p:cNvSpPr>
            <a:spLocks noGrp="1"/>
          </p:cNvSpPr>
          <p:nvPr/>
        </p:nvSpPr>
        <p:spPr>
          <a:xfrm>
            <a:off x="4810125" y="2800350"/>
            <a:ext cx="14859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Colas personales</a:t>
            </a:r>
          </a:p>
        </p:txBody>
      </p:sp>
      <p:sp>
        <p:nvSpPr>
          <p:cNvPr id="38" name="one-input-queues-sub">
            <a:extLst>
              <a:ext uri="{FF2B5EF4-FFF2-40B4-BE49-F238E27FC236}">
                <a16:creationId xmlns:a16="http://schemas.microsoft.com/office/drawing/2014/main" id="{757E6D40-4190-4781-AE3D-2282529E1C4D}"/>
              </a:ext>
            </a:extLst>
          </p:cNvPr>
          <p:cNvSpPr>
            <a:spLocks noGrp="1"/>
          </p:cNvSpPr>
          <p:nvPr/>
        </p:nvSpPr>
        <p:spPr>
          <a:xfrm>
            <a:off x="4852988" y="3036358"/>
            <a:ext cx="1314450" cy="581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80659" lnSpcReduction="10000"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dirty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Ana:  m1 · m2 · m3</a:t>
            </a:r>
          </a:p>
          <a:p>
            <a:pPr algn="l">
              <a:buNone/>
              <a:defRPr sz="1200" b="0" i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dirty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Bob:  m1</a:t>
            </a:r>
          </a:p>
          <a:p>
            <a:pPr algn="l">
              <a:buNone/>
              <a:defRPr sz="1200" b="0" i="0">
                <a:solidFill>
                  <a:srgbClr val="101820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 dirty="0">
                <a:solidFill>
                  <a:srgbClr val="101820"/>
                </a:solidFill>
                <a:latin typeface="Courier New"/>
                <a:ea typeface="Courier New"/>
                <a:cs typeface="Courier New"/>
              </a:rPr>
              <a:t>Carlos: —</a:t>
            </a:r>
          </a:p>
        </p:txBody>
      </p:sp>
      <p:sp>
        <p:nvSpPr>
          <p:cNvPr id="39" name="one-fifo-bg">
            <a:extLst>
              <a:ext uri="{FF2B5EF4-FFF2-40B4-BE49-F238E27FC236}">
                <a16:creationId xmlns:a16="http://schemas.microsoft.com/office/drawing/2014/main" id="{AF3088E5-2F11-4E2C-AA02-6939081262F3}"/>
              </a:ext>
            </a:extLst>
          </p:cNvPr>
          <p:cNvSpPr>
            <a:spLocks noGrp="1"/>
          </p:cNvSpPr>
          <p:nvPr/>
        </p:nvSpPr>
        <p:spPr>
          <a:xfrm>
            <a:off x="5153025" y="3676650"/>
            <a:ext cx="800100" cy="285750"/>
          </a:xfrm>
          <a:prstGeom prst="roundRect">
            <a:avLst>
              <a:gd name="adj" fmla="val 50000"/>
            </a:avLst>
          </a:prstGeom>
          <a:solidFill>
            <a:srgbClr val="DDEEFF"/>
          </a:solidFill>
          <a:ln w="9525">
            <a:solidFill>
              <a:srgbClr val="DDEE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0" name="one-fifo">
            <a:extLst>
              <a:ext uri="{FF2B5EF4-FFF2-40B4-BE49-F238E27FC236}">
                <a16:creationId xmlns:a16="http://schemas.microsoft.com/office/drawing/2014/main" id="{E1C8E0AF-22BE-4E56-ADE1-30AEA7D999D5}"/>
              </a:ext>
            </a:extLst>
          </p:cNvPr>
          <p:cNvSpPr>
            <a:spLocks noGrp="1"/>
          </p:cNvSpPr>
          <p:nvPr/>
        </p:nvSpPr>
        <p:spPr>
          <a:xfrm>
            <a:off x="5248275" y="3733800"/>
            <a:ext cx="6096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75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FIFO</a:t>
            </a:r>
          </a:p>
        </p:txBody>
      </p:sp>
      <p:sp>
        <p:nvSpPr>
          <p:cNvPr id="41" name="one-ready-queue">
            <a:extLst>
              <a:ext uri="{FF2B5EF4-FFF2-40B4-BE49-F238E27FC236}">
                <a16:creationId xmlns:a16="http://schemas.microsoft.com/office/drawing/2014/main" id="{638353DA-2CC6-463F-BCD5-D8C69D9A0C0C}"/>
              </a:ext>
            </a:extLst>
          </p:cNvPr>
          <p:cNvSpPr>
            <a:spLocks noGrp="1"/>
          </p:cNvSpPr>
          <p:nvPr/>
        </p:nvSpPr>
        <p:spPr>
          <a:xfrm>
            <a:off x="6915150" y="2724150"/>
            <a:ext cx="1895475" cy="1171575"/>
          </a:xfrm>
          <a:prstGeom prst="roundRect">
            <a:avLst>
              <a:gd name="adj" fmla="val 11382"/>
            </a:avLst>
          </a:prstGeom>
          <a:solidFill>
            <a:srgbClr val="3D8D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2" name="one-ready-title">
            <a:extLst>
              <a:ext uri="{FF2B5EF4-FFF2-40B4-BE49-F238E27FC236}">
                <a16:creationId xmlns:a16="http://schemas.microsoft.com/office/drawing/2014/main" id="{2E7CDB6A-2821-4FE3-824D-51D5E7C0D49C}"/>
              </a:ext>
            </a:extLst>
          </p:cNvPr>
          <p:cNvSpPr>
            <a:spLocks noGrp="1"/>
          </p:cNvSpPr>
          <p:nvPr/>
        </p:nvSpPr>
        <p:spPr>
          <a:xfrm>
            <a:off x="7077075" y="2924175"/>
            <a:ext cx="1571625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9206" lnSpcReduction="10000"/>
          </a:bodyPr>
          <a:lstStyle/>
          <a:p>
            <a:pPr algn="ctr">
              <a:buNone/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BlockingQueue</a:t>
            </a:r>
          </a:p>
        </p:txBody>
      </p:sp>
      <p:sp>
        <p:nvSpPr>
          <p:cNvPr id="43" name="one-ready-sub">
            <a:extLst>
              <a:ext uri="{FF2B5EF4-FFF2-40B4-BE49-F238E27FC236}">
                <a16:creationId xmlns:a16="http://schemas.microsoft.com/office/drawing/2014/main" id="{B0822E4A-8A4A-4CE1-8928-261CA8C796A7}"/>
              </a:ext>
            </a:extLst>
          </p:cNvPr>
          <p:cNvSpPr>
            <a:spLocks noGrp="1"/>
          </p:cNvSpPr>
          <p:nvPr/>
        </p:nvSpPr>
        <p:spPr>
          <a:xfrm>
            <a:off x="7077075" y="3295650"/>
            <a:ext cx="1571625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clientes listos</a:t>
            </a:r>
          </a:p>
          <a:p>
            <a:pPr algn="ctr">
              <a:buNone/>
              <a:def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275" b="0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take()</a:t>
            </a:r>
          </a:p>
        </p:txBody>
      </p:sp>
      <p:sp>
        <p:nvSpPr>
          <p:cNvPr id="44" name="one-workers">
            <a:extLst>
              <a:ext uri="{FF2B5EF4-FFF2-40B4-BE49-F238E27FC236}">
                <a16:creationId xmlns:a16="http://schemas.microsoft.com/office/drawing/2014/main" id="{0CCFFDF5-AD34-4DDB-8DF5-DFDEAD7EA1EA}"/>
              </a:ext>
            </a:extLst>
          </p:cNvPr>
          <p:cNvSpPr>
            <a:spLocks noGrp="1"/>
          </p:cNvSpPr>
          <p:nvPr/>
        </p:nvSpPr>
        <p:spPr>
          <a:xfrm>
            <a:off x="9267825" y="2438400"/>
            <a:ext cx="2286000" cy="1752600"/>
          </a:xfrm>
          <a:prstGeom prst="roundRect">
            <a:avLst>
              <a:gd name="adj" fmla="val 7609"/>
            </a:avLst>
          </a:prstGeom>
          <a:solidFill>
            <a:srgbClr val="DCF4E9"/>
          </a:solidFill>
          <a:ln w="9525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5" name="one-workers-title">
            <a:extLst>
              <a:ext uri="{FF2B5EF4-FFF2-40B4-BE49-F238E27FC236}">
                <a16:creationId xmlns:a16="http://schemas.microsoft.com/office/drawing/2014/main" id="{BAEF2104-E324-49A2-870E-2FA4042F2681}"/>
              </a:ext>
            </a:extLst>
          </p:cNvPr>
          <p:cNvSpPr>
            <a:spLocks noGrp="1"/>
          </p:cNvSpPr>
          <p:nvPr/>
        </p:nvSpPr>
        <p:spPr>
          <a:xfrm>
            <a:off x="9467850" y="2619375"/>
            <a:ext cx="18859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5833"/>
          </a:bodyPr>
          <a:lstStyle/>
          <a:p>
            <a:pPr algn="ctr">
              <a:buNone/>
              <a:defRPr sz="1500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WORKERS</a:t>
            </a:r>
          </a:p>
        </p:txBody>
      </p:sp>
      <p:sp>
        <p:nvSpPr>
          <p:cNvPr id="46" name="one-workers-sub">
            <a:extLst>
              <a:ext uri="{FF2B5EF4-FFF2-40B4-BE49-F238E27FC236}">
                <a16:creationId xmlns:a16="http://schemas.microsoft.com/office/drawing/2014/main" id="{4C9393C3-F013-46F7-88AC-C70075F8CB44}"/>
              </a:ext>
            </a:extLst>
          </p:cNvPr>
          <p:cNvSpPr>
            <a:spLocks noGrp="1"/>
          </p:cNvSpPr>
          <p:nvPr/>
        </p:nvSpPr>
        <p:spPr>
          <a:xfrm>
            <a:off x="9467850" y="2886075"/>
            <a:ext cx="18859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12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paralelo entre clientes</a:t>
            </a:r>
          </a:p>
        </p:txBody>
      </p:sp>
      <p:sp>
        <p:nvSpPr>
          <p:cNvPr id="47" name="one-worker-0">
            <a:extLst>
              <a:ext uri="{FF2B5EF4-FFF2-40B4-BE49-F238E27FC236}">
                <a16:creationId xmlns:a16="http://schemas.microsoft.com/office/drawing/2014/main" id="{93D3660E-16A9-4EFE-9EFB-013607BD2AB3}"/>
              </a:ext>
            </a:extLst>
          </p:cNvPr>
          <p:cNvSpPr>
            <a:spLocks noGrp="1"/>
          </p:cNvSpPr>
          <p:nvPr/>
        </p:nvSpPr>
        <p:spPr>
          <a:xfrm>
            <a:off x="9639300" y="3238500"/>
            <a:ext cx="1533525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9525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8" name="one-worker-text-0">
            <a:extLst>
              <a:ext uri="{FF2B5EF4-FFF2-40B4-BE49-F238E27FC236}">
                <a16:creationId xmlns:a16="http://schemas.microsoft.com/office/drawing/2014/main" id="{C8AE88BC-ADED-435A-B330-10FCFF9E1B01}"/>
              </a:ext>
            </a:extLst>
          </p:cNvPr>
          <p:cNvSpPr>
            <a:spLocks noGrp="1"/>
          </p:cNvSpPr>
          <p:nvPr/>
        </p:nvSpPr>
        <p:spPr>
          <a:xfrm>
            <a:off x="9715500" y="3276600"/>
            <a:ext cx="1381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ctr">
              <a:buNone/>
              <a:defRPr sz="975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W1 · Ana</a:t>
            </a:r>
          </a:p>
        </p:txBody>
      </p:sp>
      <p:sp>
        <p:nvSpPr>
          <p:cNvPr id="49" name="one-worker-1">
            <a:extLst>
              <a:ext uri="{FF2B5EF4-FFF2-40B4-BE49-F238E27FC236}">
                <a16:creationId xmlns:a16="http://schemas.microsoft.com/office/drawing/2014/main" id="{A2B66AF9-6ED0-421C-BF4F-DA6B2DB28DCF}"/>
              </a:ext>
            </a:extLst>
          </p:cNvPr>
          <p:cNvSpPr>
            <a:spLocks noGrp="1"/>
          </p:cNvSpPr>
          <p:nvPr/>
        </p:nvSpPr>
        <p:spPr>
          <a:xfrm>
            <a:off x="9639300" y="3514725"/>
            <a:ext cx="1533525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9525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0" name="one-worker-text-1">
            <a:extLst>
              <a:ext uri="{FF2B5EF4-FFF2-40B4-BE49-F238E27FC236}">
                <a16:creationId xmlns:a16="http://schemas.microsoft.com/office/drawing/2014/main" id="{A9CDBB4F-82D3-4B64-BE59-B629588E99DB}"/>
              </a:ext>
            </a:extLst>
          </p:cNvPr>
          <p:cNvSpPr>
            <a:spLocks noGrp="1"/>
          </p:cNvSpPr>
          <p:nvPr/>
        </p:nvSpPr>
        <p:spPr>
          <a:xfrm>
            <a:off x="9715500" y="3552825"/>
            <a:ext cx="1381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ctr">
              <a:buNone/>
              <a:defRPr sz="975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W2 · Bob</a:t>
            </a:r>
          </a:p>
        </p:txBody>
      </p:sp>
      <p:sp>
        <p:nvSpPr>
          <p:cNvPr id="51" name="one-worker-2">
            <a:extLst>
              <a:ext uri="{FF2B5EF4-FFF2-40B4-BE49-F238E27FC236}">
                <a16:creationId xmlns:a16="http://schemas.microsoft.com/office/drawing/2014/main" id="{A0ED15DE-942C-4D32-95E2-78EF7D56CAB7}"/>
              </a:ext>
            </a:extLst>
          </p:cNvPr>
          <p:cNvSpPr>
            <a:spLocks noGrp="1"/>
          </p:cNvSpPr>
          <p:nvPr/>
        </p:nvSpPr>
        <p:spPr>
          <a:xfrm>
            <a:off x="9639300" y="3790950"/>
            <a:ext cx="1533525" cy="219075"/>
          </a:xfrm>
          <a:prstGeom prst="roundRect">
            <a:avLst>
              <a:gd name="adj" fmla="val 34783"/>
            </a:avLst>
          </a:prstGeom>
          <a:solidFill>
            <a:srgbClr val="FFFFFF"/>
          </a:solidFill>
          <a:ln w="9525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2" name="one-worker-text-2">
            <a:extLst>
              <a:ext uri="{FF2B5EF4-FFF2-40B4-BE49-F238E27FC236}">
                <a16:creationId xmlns:a16="http://schemas.microsoft.com/office/drawing/2014/main" id="{B3137544-3B5F-4F57-8D1C-660F9B334EBD}"/>
              </a:ext>
            </a:extLst>
          </p:cNvPr>
          <p:cNvSpPr>
            <a:spLocks noGrp="1"/>
          </p:cNvSpPr>
          <p:nvPr/>
        </p:nvSpPr>
        <p:spPr>
          <a:xfrm>
            <a:off x="9715500" y="3829050"/>
            <a:ext cx="1381125" cy="142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6154"/>
          </a:bodyPr>
          <a:lstStyle/>
          <a:p>
            <a:pPr algn="ctr">
              <a:buNone/>
              <a:defRPr sz="975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W3 · Carlos</a:t>
            </a:r>
          </a:p>
        </p:txBody>
      </p:sp>
      <p:sp>
        <p:nvSpPr>
          <p:cNvPr id="53" name="one-return-client">
            <a:extLst>
              <a:ext uri="{FF2B5EF4-FFF2-40B4-BE49-F238E27FC236}">
                <a16:creationId xmlns:a16="http://schemas.microsoft.com/office/drawing/2014/main" id="{1E849775-31EC-4DEB-8271-C3A4E71CDA81}"/>
              </a:ext>
            </a:extLst>
          </p:cNvPr>
          <p:cNvSpPr>
            <a:spLocks noGrp="1"/>
          </p:cNvSpPr>
          <p:nvPr/>
        </p:nvSpPr>
        <p:spPr>
          <a:xfrm>
            <a:off x="609600" y="4400550"/>
            <a:ext cx="1952625" cy="657225"/>
          </a:xfrm>
          <a:prstGeom prst="roundRect">
            <a:avLst>
              <a:gd name="adj" fmla="val 14493"/>
            </a:avLst>
          </a:prstGeom>
          <a:solidFill>
            <a:srgbClr val="DDEEFF"/>
          </a:solidFill>
          <a:ln w="9525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4" name="one-return-client-title">
            <a:extLst>
              <a:ext uri="{FF2B5EF4-FFF2-40B4-BE49-F238E27FC236}">
                <a16:creationId xmlns:a16="http://schemas.microsoft.com/office/drawing/2014/main" id="{01FA7FD0-DBF1-4D87-B50E-FF79B84AA9AF}"/>
              </a:ext>
            </a:extLst>
          </p:cNvPr>
          <p:cNvSpPr>
            <a:spLocks noGrp="1"/>
          </p:cNvSpPr>
          <p:nvPr/>
        </p:nvSpPr>
        <p:spPr>
          <a:xfrm>
            <a:off x="762000" y="4533900"/>
            <a:ext cx="16478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ctr">
              <a:buNone/>
              <a:defRPr sz="12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CLIENTE RECIBE</a:t>
            </a:r>
          </a:p>
        </p:txBody>
      </p:sp>
      <p:sp>
        <p:nvSpPr>
          <p:cNvPr id="55" name="one-return-client-sub">
            <a:extLst>
              <a:ext uri="{FF2B5EF4-FFF2-40B4-BE49-F238E27FC236}">
                <a16:creationId xmlns:a16="http://schemas.microsoft.com/office/drawing/2014/main" id="{8A448236-EE79-4D0F-A459-6A6CA76C799C}"/>
              </a:ext>
            </a:extLst>
          </p:cNvPr>
          <p:cNvSpPr>
            <a:spLocks noGrp="1"/>
          </p:cNvSpPr>
          <p:nvPr/>
        </p:nvSpPr>
        <p:spPr>
          <a:xfrm>
            <a:off x="762000" y="4781550"/>
            <a:ext cx="16478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respuesta privada / grupal</a:t>
            </a:r>
          </a:p>
        </p:txBody>
      </p:sp>
      <p:sp>
        <p:nvSpPr>
          <p:cNvPr id="56" name="one-return-selector">
            <a:extLst>
              <a:ext uri="{FF2B5EF4-FFF2-40B4-BE49-F238E27FC236}">
                <a16:creationId xmlns:a16="http://schemas.microsoft.com/office/drawing/2014/main" id="{BB82D7B4-EA6C-42F7-8B85-056A473524FB}"/>
              </a:ext>
            </a:extLst>
          </p:cNvPr>
          <p:cNvSpPr>
            <a:spLocks noGrp="1"/>
          </p:cNvSpPr>
          <p:nvPr/>
        </p:nvSpPr>
        <p:spPr>
          <a:xfrm>
            <a:off x="4667250" y="4400550"/>
            <a:ext cx="1933575" cy="657225"/>
          </a:xfrm>
          <a:prstGeom prst="roundRect">
            <a:avLst>
              <a:gd name="adj" fmla="val 14493"/>
            </a:avLst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7" name="one-return-selector-title">
            <a:extLst>
              <a:ext uri="{FF2B5EF4-FFF2-40B4-BE49-F238E27FC236}">
                <a16:creationId xmlns:a16="http://schemas.microsoft.com/office/drawing/2014/main" id="{F5DD24C0-D544-4115-BD8A-D67A5C475212}"/>
              </a:ext>
            </a:extLst>
          </p:cNvPr>
          <p:cNvSpPr>
            <a:spLocks noGrp="1"/>
          </p:cNvSpPr>
          <p:nvPr/>
        </p:nvSpPr>
        <p:spPr>
          <a:xfrm>
            <a:off x="4791075" y="4543425"/>
            <a:ext cx="16859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2593" lnSpcReduction="10000"/>
          </a:bodyPr>
          <a:lstStyle/>
          <a:p>
            <a:pPr algn="ctr">
              <a:buNone/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OP_WRITE</a:t>
            </a:r>
          </a:p>
        </p:txBody>
      </p:sp>
      <p:sp>
        <p:nvSpPr>
          <p:cNvPr id="58" name="one-return-selector-sub">
            <a:extLst>
              <a:ext uri="{FF2B5EF4-FFF2-40B4-BE49-F238E27FC236}">
                <a16:creationId xmlns:a16="http://schemas.microsoft.com/office/drawing/2014/main" id="{C1FD8EE2-AA1F-4F40-B8AD-8FC30CC5EA22}"/>
              </a:ext>
            </a:extLst>
          </p:cNvPr>
          <p:cNvSpPr>
            <a:spLocks noGrp="1"/>
          </p:cNvSpPr>
          <p:nvPr/>
        </p:nvSpPr>
        <p:spPr>
          <a:xfrm>
            <a:off x="4791075" y="4791075"/>
            <a:ext cx="1685925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mismo Selector</a:t>
            </a:r>
          </a:p>
        </p:txBody>
      </p:sp>
      <p:sp>
        <p:nvSpPr>
          <p:cNvPr id="59" name="one-output">
            <a:extLst>
              <a:ext uri="{FF2B5EF4-FFF2-40B4-BE49-F238E27FC236}">
                <a16:creationId xmlns:a16="http://schemas.microsoft.com/office/drawing/2014/main" id="{5060FEA1-252A-4A40-8132-20A3846ACAD1}"/>
              </a:ext>
            </a:extLst>
          </p:cNvPr>
          <p:cNvSpPr>
            <a:spLocks noGrp="1"/>
          </p:cNvSpPr>
          <p:nvPr/>
        </p:nvSpPr>
        <p:spPr>
          <a:xfrm>
            <a:off x="9315450" y="4467225"/>
            <a:ext cx="1924050" cy="552450"/>
          </a:xfrm>
          <a:prstGeom prst="roundRect">
            <a:avLst>
              <a:gd name="adj" fmla="val 17241"/>
            </a:avLst>
          </a:prstGeom>
          <a:solidFill>
            <a:srgbClr val="FFF4D6"/>
          </a:solidFill>
          <a:ln w="9525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0" name="one-output-title">
            <a:extLst>
              <a:ext uri="{FF2B5EF4-FFF2-40B4-BE49-F238E27FC236}">
                <a16:creationId xmlns:a16="http://schemas.microsoft.com/office/drawing/2014/main" id="{B16B035F-9D6F-41F4-A06E-7DA9582D70A7}"/>
              </a:ext>
            </a:extLst>
          </p:cNvPr>
          <p:cNvSpPr>
            <a:spLocks noGrp="1"/>
          </p:cNvSpPr>
          <p:nvPr/>
        </p:nvSpPr>
        <p:spPr>
          <a:xfrm>
            <a:off x="9467850" y="4572000"/>
            <a:ext cx="1619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8039"/>
          </a:bodyPr>
          <a:lstStyle/>
          <a:p>
            <a:pPr algn="ctr">
              <a:buNone/>
              <a:defRPr sz="1275" b="1" i="0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8A5A00"/>
                </a:solidFill>
                <a:latin typeface="Arial"/>
                <a:ea typeface="Arial"/>
                <a:cs typeface="Arial"/>
              </a:rPr>
              <a:t>Colas de salida</a:t>
            </a:r>
          </a:p>
        </p:txBody>
      </p:sp>
      <p:sp>
        <p:nvSpPr>
          <p:cNvPr id="61" name="one-output-sub">
            <a:extLst>
              <a:ext uri="{FF2B5EF4-FFF2-40B4-BE49-F238E27FC236}">
                <a16:creationId xmlns:a16="http://schemas.microsoft.com/office/drawing/2014/main" id="{5AAB6C33-02F1-4EDC-B23E-880434B5D32E}"/>
              </a:ext>
            </a:extLst>
          </p:cNvPr>
          <p:cNvSpPr>
            <a:spLocks noGrp="1"/>
          </p:cNvSpPr>
          <p:nvPr/>
        </p:nvSpPr>
        <p:spPr>
          <a:xfrm>
            <a:off x="9467850" y="4800600"/>
            <a:ext cx="16192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bytes + wakeup()</a:t>
            </a:r>
          </a:p>
        </p:txBody>
      </p:sp>
      <p:sp>
        <p:nvSpPr>
          <p:cNvPr id="62" name="one-return-label">
            <a:extLst>
              <a:ext uri="{FF2B5EF4-FFF2-40B4-BE49-F238E27FC236}">
                <a16:creationId xmlns:a16="http://schemas.microsoft.com/office/drawing/2014/main" id="{B5BA2732-2B57-4A25-81A4-AAA919BF7737}"/>
              </a:ext>
            </a:extLst>
          </p:cNvPr>
          <p:cNvSpPr>
            <a:spLocks noGrp="1"/>
          </p:cNvSpPr>
          <p:nvPr/>
        </p:nvSpPr>
        <p:spPr>
          <a:xfrm>
            <a:off x="6762750" y="5143500"/>
            <a:ext cx="44767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ctr">
              <a:buNone/>
              <a:defRPr sz="1050" b="0" i="1">
                <a:solidFill>
                  <a:srgbClr val="8A5A00"/>
                </a:solidFill>
                <a:latin typeface="Arial"/>
                <a:ea typeface="Arial"/>
                <a:cs typeface="Arial"/>
              </a:defRPr>
            </a:pPr>
            <a:r>
              <a:rPr sz="1050" b="0" i="1">
                <a:solidFill>
                  <a:srgbClr val="8A5A00"/>
                </a:solidFill>
                <a:latin typeface="Arial"/>
                <a:ea typeface="Arial"/>
                <a:cs typeface="Arial"/>
              </a:rPr>
              <a:t>worker encola bytes · Selector escribe cuando el socket está listo</a:t>
            </a:r>
          </a:p>
        </p:txBody>
      </p:sp>
      <p:sp>
        <p:nvSpPr>
          <p:cNvPr id="63" name="one-legend-bg">
            <a:extLst>
              <a:ext uri="{FF2B5EF4-FFF2-40B4-BE49-F238E27FC236}">
                <a16:creationId xmlns:a16="http://schemas.microsoft.com/office/drawing/2014/main" id="{6F4A9F81-5285-48FF-B2E9-79442C3C4F33}"/>
              </a:ext>
            </a:extLst>
          </p:cNvPr>
          <p:cNvSpPr>
            <a:spLocks noGrp="1"/>
          </p:cNvSpPr>
          <p:nvPr/>
        </p:nvSpPr>
        <p:spPr>
          <a:xfrm>
            <a:off x="390525" y="5657850"/>
            <a:ext cx="11410950" cy="752475"/>
          </a:xfrm>
          <a:prstGeom prst="roundRect">
            <a:avLst>
              <a:gd name="adj" fmla="val 15190"/>
            </a:avLst>
          </a:prstGeom>
          <a:solidFill>
            <a:srgbClr val="16324F"/>
          </a:solidFill>
          <a:ln w="9525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4" name="one-legend-dot-0">
            <a:extLst>
              <a:ext uri="{FF2B5EF4-FFF2-40B4-BE49-F238E27FC236}">
                <a16:creationId xmlns:a16="http://schemas.microsoft.com/office/drawing/2014/main" id="{C77BF9E4-94EA-4970-84AD-64BC6F0D841B}"/>
              </a:ext>
            </a:extLst>
          </p:cNvPr>
          <p:cNvSpPr>
            <a:spLocks noGrp="1"/>
          </p:cNvSpPr>
          <p:nvPr/>
        </p:nvSpPr>
        <p:spPr>
          <a:xfrm>
            <a:off x="647700" y="5905500"/>
            <a:ext cx="114300" cy="1143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5" name="one-legend-head-0">
            <a:extLst>
              <a:ext uri="{FF2B5EF4-FFF2-40B4-BE49-F238E27FC236}">
                <a16:creationId xmlns:a16="http://schemas.microsoft.com/office/drawing/2014/main" id="{525AA715-0E4D-4814-ABF1-B075733C79BA}"/>
              </a:ext>
            </a:extLst>
          </p:cNvPr>
          <p:cNvSpPr>
            <a:spLocks noGrp="1"/>
          </p:cNvSpPr>
          <p:nvPr/>
        </p:nvSpPr>
        <p:spPr>
          <a:xfrm>
            <a:off x="857250" y="5810250"/>
            <a:ext cx="1524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BlockingQueue</a:t>
            </a:r>
          </a:p>
        </p:txBody>
      </p:sp>
      <p:sp>
        <p:nvSpPr>
          <p:cNvPr id="66" name="one-legend-body-0">
            <a:extLst>
              <a:ext uri="{FF2B5EF4-FFF2-40B4-BE49-F238E27FC236}">
                <a16:creationId xmlns:a16="http://schemas.microsoft.com/office/drawing/2014/main" id="{968194FF-A9F0-4290-BF65-52D135838FED}"/>
              </a:ext>
            </a:extLst>
          </p:cNvPr>
          <p:cNvSpPr>
            <a:spLocks noGrp="1"/>
          </p:cNvSpPr>
          <p:nvPr/>
        </p:nvSpPr>
        <p:spPr>
          <a:xfrm>
            <a:off x="857250" y="604837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D7E2E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7E2EF"/>
                </a:solidFill>
                <a:latin typeface="Arial"/>
                <a:ea typeface="Arial"/>
                <a:cs typeface="Arial"/>
              </a:rPr>
              <a:t>coordina la espera</a:t>
            </a:r>
          </a:p>
        </p:txBody>
      </p:sp>
      <p:sp>
        <p:nvSpPr>
          <p:cNvPr id="67" name="one-legend-dot-1">
            <a:extLst>
              <a:ext uri="{FF2B5EF4-FFF2-40B4-BE49-F238E27FC236}">
                <a16:creationId xmlns:a16="http://schemas.microsoft.com/office/drawing/2014/main" id="{29C1FAEE-E651-483E-83EE-04E22466D887}"/>
              </a:ext>
            </a:extLst>
          </p:cNvPr>
          <p:cNvSpPr>
            <a:spLocks noGrp="1"/>
          </p:cNvSpPr>
          <p:nvPr/>
        </p:nvSpPr>
        <p:spPr>
          <a:xfrm>
            <a:off x="4324350" y="5905500"/>
            <a:ext cx="114300" cy="114300"/>
          </a:xfrm>
          <a:prstGeom prst="ellipse">
            <a:avLst/>
          </a:prstGeom>
          <a:solidFill>
            <a:srgbClr val="2E9D72"/>
          </a:solidFill>
          <a:ln w="0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68" name="one-legend-head-1">
            <a:extLst>
              <a:ext uri="{FF2B5EF4-FFF2-40B4-BE49-F238E27FC236}">
                <a16:creationId xmlns:a16="http://schemas.microsoft.com/office/drawing/2014/main" id="{29CE9304-5779-4D90-84C7-55F0C85F4F6B}"/>
              </a:ext>
            </a:extLst>
          </p:cNvPr>
          <p:cNvSpPr>
            <a:spLocks noGrp="1"/>
          </p:cNvSpPr>
          <p:nvPr/>
        </p:nvSpPr>
        <p:spPr>
          <a:xfrm>
            <a:off x="4533900" y="5810250"/>
            <a:ext cx="1524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AtomicBoolean</a:t>
            </a:r>
          </a:p>
        </p:txBody>
      </p:sp>
      <p:sp>
        <p:nvSpPr>
          <p:cNvPr id="69" name="one-legend-body-1">
            <a:extLst>
              <a:ext uri="{FF2B5EF4-FFF2-40B4-BE49-F238E27FC236}">
                <a16:creationId xmlns:a16="http://schemas.microsoft.com/office/drawing/2014/main" id="{B0A0915A-7504-416A-A18B-EB4A0D004358}"/>
              </a:ext>
            </a:extLst>
          </p:cNvPr>
          <p:cNvSpPr>
            <a:spLocks noGrp="1"/>
          </p:cNvSpPr>
          <p:nvPr/>
        </p:nvSpPr>
        <p:spPr>
          <a:xfrm>
            <a:off x="4533900" y="604837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D7E2E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7E2EF"/>
                </a:solidFill>
                <a:latin typeface="Arial"/>
                <a:ea typeface="Arial"/>
                <a:cs typeface="Arial"/>
              </a:rPr>
              <a:t>una entrada por cliente</a:t>
            </a:r>
          </a:p>
        </p:txBody>
      </p:sp>
      <p:sp>
        <p:nvSpPr>
          <p:cNvPr id="70" name="one-legend-dot-2">
            <a:extLst>
              <a:ext uri="{FF2B5EF4-FFF2-40B4-BE49-F238E27FC236}">
                <a16:creationId xmlns:a16="http://schemas.microsoft.com/office/drawing/2014/main" id="{813F9060-5241-4FA0-8EC5-62DBC9921B9C}"/>
              </a:ext>
            </a:extLst>
          </p:cNvPr>
          <p:cNvSpPr>
            <a:spLocks noGrp="1"/>
          </p:cNvSpPr>
          <p:nvPr/>
        </p:nvSpPr>
        <p:spPr>
          <a:xfrm>
            <a:off x="8001000" y="5905500"/>
            <a:ext cx="114300" cy="11430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71" name="one-legend-head-2">
            <a:extLst>
              <a:ext uri="{FF2B5EF4-FFF2-40B4-BE49-F238E27FC236}">
                <a16:creationId xmlns:a16="http://schemas.microsoft.com/office/drawing/2014/main" id="{3A70941F-3F7D-4063-ADDC-C5CAD6BCA278}"/>
              </a:ext>
            </a:extLst>
          </p:cNvPr>
          <p:cNvSpPr>
            <a:spLocks noGrp="1"/>
          </p:cNvSpPr>
          <p:nvPr/>
        </p:nvSpPr>
        <p:spPr>
          <a:xfrm>
            <a:off x="8210550" y="5810250"/>
            <a:ext cx="1524000" cy="2000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Regla</a:t>
            </a:r>
          </a:p>
        </p:txBody>
      </p:sp>
      <p:sp>
        <p:nvSpPr>
          <p:cNvPr id="72" name="one-legend-body-2">
            <a:extLst>
              <a:ext uri="{FF2B5EF4-FFF2-40B4-BE49-F238E27FC236}">
                <a16:creationId xmlns:a16="http://schemas.microsoft.com/office/drawing/2014/main" id="{119424DE-5290-4C6F-8426-C7130B41DCB7}"/>
              </a:ext>
            </a:extLst>
          </p:cNvPr>
          <p:cNvSpPr>
            <a:spLocks noGrp="1"/>
          </p:cNvSpPr>
          <p:nvPr/>
        </p:nvSpPr>
        <p:spPr>
          <a:xfrm>
            <a:off x="8210550" y="6048375"/>
            <a:ext cx="3143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D7E2EF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D7E2EF"/>
                </a:solidFill>
                <a:latin typeface="Arial"/>
                <a:ea typeface="Arial"/>
                <a:cs typeface="Arial"/>
              </a:rPr>
              <a:t>serial por cliente · paralelo entre clientes</a:t>
            </a:r>
          </a:p>
        </p:txBody>
      </p:sp>
      <p:sp>
        <p:nvSpPr>
          <p:cNvPr id="73" name="one-page">
            <a:extLst>
              <a:ext uri="{FF2B5EF4-FFF2-40B4-BE49-F238E27FC236}">
                <a16:creationId xmlns:a16="http://schemas.microsoft.com/office/drawing/2014/main" id="{19027B37-C897-49F2-BE50-BCCCDD8876F6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01 / 03</a:t>
            </a:r>
          </a:p>
        </p:txBody>
      </p:sp>
    </p:spTree>
    <p:extLst>
      <p:ext uri="{BB962C8B-B14F-4D97-AF65-F5344CB8AC3E}">
        <p14:creationId xmlns:p14="http://schemas.microsoft.com/office/powerpoint/2010/main" val="1969172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explain-kicker">
            <a:extLst>
              <a:ext uri="{FF2B5EF4-FFF2-40B4-BE49-F238E27FC236}">
                <a16:creationId xmlns:a16="http://schemas.microsoft.com/office/drawing/2014/main" id="{D8B586BE-53DA-40E2-BAA9-506D39E33E7B}"/>
              </a:ext>
            </a:extLst>
          </p:cNvPr>
          <p:cNvSpPr>
            <a:spLocks noGrp="1"/>
          </p:cNvSpPr>
          <p:nvPr/>
        </p:nvSpPr>
        <p:spPr>
          <a:xfrm>
            <a:off x="390525" y="238125"/>
            <a:ext cx="619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</a:pPr>
            <a:r>
              <a:rPr lang="en-US" sz="1050" b="1" i="0" dirty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PROCESOS · HILOS · SINCRONIZACIÓN</a:t>
            </a:r>
          </a:p>
        </p:txBody>
      </p:sp>
      <p:sp>
        <p:nvSpPr>
          <p:cNvPr id="2" name="explain-title">
            <a:extLst>
              <a:ext uri="{FF2B5EF4-FFF2-40B4-BE49-F238E27FC236}">
                <a16:creationId xmlns:a16="http://schemas.microsoft.com/office/drawing/2014/main" id="{77A9E00E-7F4A-4925-B431-09B94332ACA5}"/>
              </a:ext>
            </a:extLst>
          </p:cNvPr>
          <p:cNvSpPr>
            <a:spLocks noGrp="1"/>
          </p:cNvSpPr>
          <p:nvPr/>
        </p:nvSpPr>
        <p:spPr>
          <a:xfrm>
            <a:off x="390525" y="609600"/>
            <a:ext cx="9048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>
              <a:defRPr sz="32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lang="en-US" sz="2700" b="1" dirty="0" err="1">
                <a:solidFill>
                  <a:srgbClr val="101820"/>
                </a:solidFill>
                <a:latin typeface="Arial"/>
                <a:cs typeface="Arial"/>
              </a:rPr>
              <a:t>Arquitectura</a:t>
            </a:r>
            <a:r>
              <a:rPr lang="en-US" sz="2700" b="1" dirty="0">
                <a:solidFill>
                  <a:srgbClr val="101820"/>
                </a:solidFill>
                <a:latin typeface="Arial"/>
                <a:cs typeface="Arial"/>
              </a:rPr>
              <a:t>: </a:t>
            </a:r>
            <a:r>
              <a:rPr lang="en-US" sz="2700" b="1" dirty="0" err="1">
                <a:solidFill>
                  <a:srgbClr val="101820"/>
                </a:solidFill>
                <a:latin typeface="Arial"/>
                <a:cs typeface="Arial"/>
              </a:rPr>
              <a:t>Decisiones</a:t>
            </a:r>
            <a:r>
              <a:rPr lang="en-US" sz="2700" b="1" dirty="0">
                <a:solidFill>
                  <a:srgbClr val="101820"/>
                </a:solidFill>
                <a:latin typeface="Arial"/>
                <a:cs typeface="Arial"/>
              </a:rPr>
              <a:t> de </a:t>
            </a:r>
            <a:r>
              <a:rPr lang="en-US" sz="2700" b="1" dirty="0" err="1">
                <a:solidFill>
                  <a:srgbClr val="101820"/>
                </a:solidFill>
                <a:latin typeface="Arial"/>
                <a:cs typeface="Arial"/>
              </a:rPr>
              <a:t>Sincronización</a:t>
            </a:r>
            <a:endParaRPr lang="en-US" sz="2700" b="1" dirty="0">
              <a:solidFill>
                <a:srgbClr val="101820"/>
              </a:solidFill>
              <a:latin typeface="Arial"/>
              <a:cs typeface="Arial"/>
            </a:endParaRPr>
          </a:p>
          <a:p>
            <a:pPr>
              <a:defRPr sz="32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endParaRPr lang="en-US" sz="3225" b="1" i="0" dirty="0">
              <a:solidFill>
                <a:srgbClr val="10182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explain-title-rule">
            <a:extLst>
              <a:ext uri="{FF2B5EF4-FFF2-40B4-BE49-F238E27FC236}">
                <a16:creationId xmlns:a16="http://schemas.microsoft.com/office/drawing/2014/main" id="{10595D57-35C8-4D83-8549-E8DD4197442A}"/>
              </a:ext>
            </a:extLst>
          </p:cNvPr>
          <p:cNvSpPr>
            <a:spLocks noGrp="1"/>
          </p:cNvSpPr>
          <p:nvPr/>
        </p:nvSpPr>
        <p:spPr>
          <a:xfrm>
            <a:off x="390525" y="1200150"/>
            <a:ext cx="114109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5" name="explain-lead">
            <a:extLst>
              <a:ext uri="{FF2B5EF4-FFF2-40B4-BE49-F238E27FC236}">
                <a16:creationId xmlns:a16="http://schemas.microsoft.com/office/drawing/2014/main" id="{AE848CD9-5D79-4FC5-91AF-CE77ED525EFE}"/>
              </a:ext>
            </a:extLst>
          </p:cNvPr>
          <p:cNvSpPr>
            <a:spLocks noGrp="1"/>
          </p:cNvSpPr>
          <p:nvPr/>
        </p:nvSpPr>
        <p:spPr>
          <a:xfrm>
            <a:off x="390525" y="1409700"/>
            <a:ext cx="1028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No hay un mutex global: cada frontera usa el mecanismo que corresponde a la propiedad que debe proteger.</a:t>
            </a:r>
          </a:p>
        </p:txBody>
      </p:sp>
      <p:sp>
        <p:nvSpPr>
          <p:cNvPr id="6" name="explain-col-decision">
            <a:extLst>
              <a:ext uri="{FF2B5EF4-FFF2-40B4-BE49-F238E27FC236}">
                <a16:creationId xmlns:a16="http://schemas.microsoft.com/office/drawing/2014/main" id="{4BA6ED07-8EFD-4617-80E7-8BD0D9111C79}"/>
              </a:ext>
            </a:extLst>
          </p:cNvPr>
          <p:cNvSpPr>
            <a:spLocks noGrp="1"/>
          </p:cNvSpPr>
          <p:nvPr/>
        </p:nvSpPr>
        <p:spPr>
          <a:xfrm>
            <a:off x="1028700" y="18954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DECISIÓN</a:t>
            </a:r>
          </a:p>
        </p:txBody>
      </p:sp>
      <p:sp>
        <p:nvSpPr>
          <p:cNvPr id="7" name="explain-col-where">
            <a:extLst>
              <a:ext uri="{FF2B5EF4-FFF2-40B4-BE49-F238E27FC236}">
                <a16:creationId xmlns:a16="http://schemas.microsoft.com/office/drawing/2014/main" id="{7C08CE9F-94EC-4B09-B358-B8523B6E73E6}"/>
              </a:ext>
            </a:extLst>
          </p:cNvPr>
          <p:cNvSpPr>
            <a:spLocks noGrp="1"/>
          </p:cNvSpPr>
          <p:nvPr/>
        </p:nvSpPr>
        <p:spPr>
          <a:xfrm>
            <a:off x="4095750" y="1895475"/>
            <a:ext cx="2857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DÓNDE ESTÁ</a:t>
            </a:r>
          </a:p>
        </p:txBody>
      </p:sp>
      <p:sp>
        <p:nvSpPr>
          <p:cNvPr id="8" name="explain-col-why">
            <a:extLst>
              <a:ext uri="{FF2B5EF4-FFF2-40B4-BE49-F238E27FC236}">
                <a16:creationId xmlns:a16="http://schemas.microsoft.com/office/drawing/2014/main" id="{AFCB3FB5-B548-44E7-B384-5D043C4FCCF3}"/>
              </a:ext>
            </a:extLst>
          </p:cNvPr>
          <p:cNvSpPr>
            <a:spLocks noGrp="1"/>
          </p:cNvSpPr>
          <p:nvPr/>
        </p:nvSpPr>
        <p:spPr>
          <a:xfrm>
            <a:off x="7524750" y="1895475"/>
            <a:ext cx="4000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4B942"/>
                </a:solidFill>
                <a:latin typeface="Arial"/>
                <a:ea typeface="Arial"/>
                <a:cs typeface="Arial"/>
              </a:rPr>
              <a:t>POR QUÉ / PARA QUÉ</a:t>
            </a:r>
          </a:p>
        </p:txBody>
      </p:sp>
      <p:sp>
        <p:nvSpPr>
          <p:cNvPr id="9" name="explain-header-rule">
            <a:extLst>
              <a:ext uri="{FF2B5EF4-FFF2-40B4-BE49-F238E27FC236}">
                <a16:creationId xmlns:a16="http://schemas.microsoft.com/office/drawing/2014/main" id="{4B93DC2C-C6C6-435F-9F8F-CFD935DB0972}"/>
              </a:ext>
            </a:extLst>
          </p:cNvPr>
          <p:cNvSpPr>
            <a:spLocks noGrp="1"/>
          </p:cNvSpPr>
          <p:nvPr/>
        </p:nvSpPr>
        <p:spPr>
          <a:xfrm>
            <a:off x="1028700" y="2085975"/>
            <a:ext cx="104965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0" name="explain-spine">
            <a:extLst>
              <a:ext uri="{FF2B5EF4-FFF2-40B4-BE49-F238E27FC236}">
                <a16:creationId xmlns:a16="http://schemas.microsoft.com/office/drawing/2014/main" id="{909EC094-9C14-4025-9ABB-8B3C3C9B0831}"/>
              </a:ext>
            </a:extLst>
          </p:cNvPr>
          <p:cNvSpPr>
            <a:spLocks noGrp="1"/>
          </p:cNvSpPr>
          <p:nvPr/>
        </p:nvSpPr>
        <p:spPr>
          <a:xfrm>
            <a:off x="609600" y="2209800"/>
            <a:ext cx="28575" cy="3638550"/>
          </a:xfrm>
          <a:prstGeom prst="rect">
            <a:avLst/>
          </a:prstGeom>
          <a:solidFill>
            <a:srgbClr val="CBD1D8"/>
          </a:solidFill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1" name="explain-dot-0">
            <a:extLst>
              <a:ext uri="{FF2B5EF4-FFF2-40B4-BE49-F238E27FC236}">
                <a16:creationId xmlns:a16="http://schemas.microsoft.com/office/drawing/2014/main" id="{115D6571-18C4-4932-A5D3-E014071EB54D}"/>
              </a:ext>
            </a:extLst>
          </p:cNvPr>
          <p:cNvSpPr>
            <a:spLocks noGrp="1"/>
          </p:cNvSpPr>
          <p:nvPr/>
        </p:nvSpPr>
        <p:spPr>
          <a:xfrm>
            <a:off x="523875" y="2352675"/>
            <a:ext cx="190500" cy="1905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2" name="explain-number-0">
            <a:extLst>
              <a:ext uri="{FF2B5EF4-FFF2-40B4-BE49-F238E27FC236}">
                <a16:creationId xmlns:a16="http://schemas.microsoft.com/office/drawing/2014/main" id="{3C182886-912B-407B-8A9A-D078F65C78EA}"/>
              </a:ext>
            </a:extLst>
          </p:cNvPr>
          <p:cNvSpPr>
            <a:spLocks noGrp="1"/>
          </p:cNvSpPr>
          <p:nvPr/>
        </p:nvSpPr>
        <p:spPr>
          <a:xfrm>
            <a:off x="742950" y="23526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explain-decision-0">
            <a:extLst>
              <a:ext uri="{FF2B5EF4-FFF2-40B4-BE49-F238E27FC236}">
                <a16:creationId xmlns:a16="http://schemas.microsoft.com/office/drawing/2014/main" id="{A1152F97-C12C-49B0-9F5F-24FA91A67FAF}"/>
              </a:ext>
            </a:extLst>
          </p:cNvPr>
          <p:cNvSpPr>
            <a:spLocks noGrp="1"/>
          </p:cNvSpPr>
          <p:nvPr/>
        </p:nvSpPr>
        <p:spPr>
          <a:xfrm>
            <a:off x="1028700" y="2257425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Selector + confinamiento</a:t>
            </a:r>
          </a:p>
        </p:txBody>
      </p:sp>
      <p:sp>
        <p:nvSpPr>
          <p:cNvPr id="14" name="explain-file-0">
            <a:extLst>
              <a:ext uri="{FF2B5EF4-FFF2-40B4-BE49-F238E27FC236}">
                <a16:creationId xmlns:a16="http://schemas.microsoft.com/office/drawing/2014/main" id="{B81C365F-F28B-4F07-8F33-356CE783E3BF}"/>
              </a:ext>
            </a:extLst>
          </p:cNvPr>
          <p:cNvSpPr>
            <a:spLocks noGrp="1"/>
          </p:cNvSpPr>
          <p:nvPr/>
        </p:nvSpPr>
        <p:spPr>
          <a:xfrm>
            <a:off x="1028700" y="2543175"/>
            <a:ext cx="2905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3D8DFF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3D8DFF"/>
                </a:solidFill>
                <a:latin typeface="Courier New"/>
                <a:ea typeface="Courier New"/>
                <a:cs typeface="Courier New"/>
              </a:rPr>
              <a:t>SelectorServer.java</a:t>
            </a:r>
          </a:p>
        </p:txBody>
      </p:sp>
      <p:sp>
        <p:nvSpPr>
          <p:cNvPr id="15" name="explain-where-0">
            <a:extLst>
              <a:ext uri="{FF2B5EF4-FFF2-40B4-BE49-F238E27FC236}">
                <a16:creationId xmlns:a16="http://schemas.microsoft.com/office/drawing/2014/main" id="{9F8DCACE-777F-4E9A-943C-083C6A86E46A}"/>
              </a:ext>
            </a:extLst>
          </p:cNvPr>
          <p:cNvSpPr>
            <a:spLocks noGrp="1"/>
          </p:cNvSpPr>
          <p:nvPr/>
        </p:nvSpPr>
        <p:spPr>
          <a:xfrm>
            <a:off x="4095750" y="2314575"/>
            <a:ext cx="3000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 solo hilo toca SocketChannel y SelectionKey.</a:t>
            </a:r>
          </a:p>
        </p:txBody>
      </p:sp>
      <p:sp>
        <p:nvSpPr>
          <p:cNvPr id="16" name="explain-why-0">
            <a:extLst>
              <a:ext uri="{FF2B5EF4-FFF2-40B4-BE49-F238E27FC236}">
                <a16:creationId xmlns:a16="http://schemas.microsoft.com/office/drawing/2014/main" id="{05117CFB-0A1D-4B98-8317-C3199635A002}"/>
              </a:ext>
            </a:extLst>
          </p:cNvPr>
          <p:cNvSpPr>
            <a:spLocks noGrp="1"/>
          </p:cNvSpPr>
          <p:nvPr/>
        </p:nvSpPr>
        <p:spPr>
          <a:xfrm>
            <a:off x="7524750" y="2314575"/>
            <a:ext cx="4000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Evita mutex sobre sockets y mantiene I/O no bloqueante.</a:t>
            </a:r>
          </a:p>
        </p:txBody>
      </p:sp>
      <p:sp>
        <p:nvSpPr>
          <p:cNvPr id="17" name="explain-row-rule-0">
            <a:extLst>
              <a:ext uri="{FF2B5EF4-FFF2-40B4-BE49-F238E27FC236}">
                <a16:creationId xmlns:a16="http://schemas.microsoft.com/office/drawing/2014/main" id="{27392381-8DF8-4F9F-B056-1C397BCDC8A1}"/>
              </a:ext>
            </a:extLst>
          </p:cNvPr>
          <p:cNvSpPr>
            <a:spLocks noGrp="1"/>
          </p:cNvSpPr>
          <p:nvPr/>
        </p:nvSpPr>
        <p:spPr>
          <a:xfrm>
            <a:off x="1028700" y="2933700"/>
            <a:ext cx="104965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8" name="explain-dot-1">
            <a:extLst>
              <a:ext uri="{FF2B5EF4-FFF2-40B4-BE49-F238E27FC236}">
                <a16:creationId xmlns:a16="http://schemas.microsoft.com/office/drawing/2014/main" id="{16E5FECC-0730-4E1B-B5EE-0614AB14ED32}"/>
              </a:ext>
            </a:extLst>
          </p:cNvPr>
          <p:cNvSpPr>
            <a:spLocks noGrp="1"/>
          </p:cNvSpPr>
          <p:nvPr/>
        </p:nvSpPr>
        <p:spPr>
          <a:xfrm>
            <a:off x="523875" y="3086100"/>
            <a:ext cx="190500" cy="190500"/>
          </a:xfrm>
          <a:prstGeom prst="ellipse">
            <a:avLst/>
          </a:prstGeom>
          <a:solidFill>
            <a:srgbClr val="6DCBF4"/>
          </a:solidFill>
          <a:ln w="0">
            <a:solidFill>
              <a:srgbClr val="6DCBF4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19" name="explain-number-1">
            <a:extLst>
              <a:ext uri="{FF2B5EF4-FFF2-40B4-BE49-F238E27FC236}">
                <a16:creationId xmlns:a16="http://schemas.microsoft.com/office/drawing/2014/main" id="{F4B4360A-F7F1-440A-B080-7813A438E12B}"/>
              </a:ext>
            </a:extLst>
          </p:cNvPr>
          <p:cNvSpPr>
            <a:spLocks noGrp="1"/>
          </p:cNvSpPr>
          <p:nvPr/>
        </p:nvSpPr>
        <p:spPr>
          <a:xfrm>
            <a:off x="742950" y="308610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0" name="explain-decision-1">
            <a:extLst>
              <a:ext uri="{FF2B5EF4-FFF2-40B4-BE49-F238E27FC236}">
                <a16:creationId xmlns:a16="http://schemas.microsoft.com/office/drawing/2014/main" id="{BFE459FC-8760-4982-AE13-6FFB1EAC2BA7}"/>
              </a:ext>
            </a:extLst>
          </p:cNvPr>
          <p:cNvSpPr>
            <a:spLocks noGrp="1"/>
          </p:cNvSpPr>
          <p:nvPr/>
        </p:nvSpPr>
        <p:spPr>
          <a:xfrm>
            <a:off x="1028700" y="2990850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76213" lnSpcReduction="20000"/>
          </a:bodyPr>
          <a:lstStyle/>
          <a:p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BlockingQueue + productor-consumidor</a:t>
            </a:r>
          </a:p>
        </p:txBody>
      </p:sp>
      <p:sp>
        <p:nvSpPr>
          <p:cNvPr id="21" name="explain-file-1">
            <a:extLst>
              <a:ext uri="{FF2B5EF4-FFF2-40B4-BE49-F238E27FC236}">
                <a16:creationId xmlns:a16="http://schemas.microsoft.com/office/drawing/2014/main" id="{8F7C68B9-0518-43C6-822E-C31B258C4EB9}"/>
              </a:ext>
            </a:extLst>
          </p:cNvPr>
          <p:cNvSpPr>
            <a:spLocks noGrp="1"/>
          </p:cNvSpPr>
          <p:nvPr/>
        </p:nvSpPr>
        <p:spPr>
          <a:xfrm>
            <a:off x="1009650" y="3357385"/>
            <a:ext cx="2905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6DCBF4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 dirty="0" err="1">
                <a:solidFill>
                  <a:srgbClr val="6DCBF4"/>
                </a:solidFill>
                <a:latin typeface="Courier New"/>
                <a:ea typeface="Courier New"/>
                <a:cs typeface="Courier New"/>
              </a:rPr>
              <a:t>ServerContext.readyQueue</a:t>
            </a:r>
            <a:endParaRPr sz="1050" b="0" i="0" dirty="0">
              <a:solidFill>
                <a:srgbClr val="6DCBF4"/>
              </a:solidFill>
              <a:latin typeface="Courier New"/>
              <a:ea typeface="Courier New"/>
              <a:cs typeface="Courier New"/>
            </a:endParaRPr>
          </a:p>
        </p:txBody>
      </p:sp>
      <p:sp>
        <p:nvSpPr>
          <p:cNvPr id="22" name="explain-where-1">
            <a:extLst>
              <a:ext uri="{FF2B5EF4-FFF2-40B4-BE49-F238E27FC236}">
                <a16:creationId xmlns:a16="http://schemas.microsoft.com/office/drawing/2014/main" id="{EE7CF4F6-3657-4B8D-8B41-D3F595274F85}"/>
              </a:ext>
            </a:extLst>
          </p:cNvPr>
          <p:cNvSpPr>
            <a:spLocks noGrp="1"/>
          </p:cNvSpPr>
          <p:nvPr/>
        </p:nvSpPr>
        <p:spPr>
          <a:xfrm>
            <a:off x="4095750" y="3048000"/>
            <a:ext cx="3000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Selector produce clientes listos; Worker consume con take().</a:t>
            </a:r>
          </a:p>
        </p:txBody>
      </p:sp>
      <p:sp>
        <p:nvSpPr>
          <p:cNvPr id="23" name="explain-why-1">
            <a:extLst>
              <a:ext uri="{FF2B5EF4-FFF2-40B4-BE49-F238E27FC236}">
                <a16:creationId xmlns:a16="http://schemas.microsoft.com/office/drawing/2014/main" id="{CD2144B8-D851-4380-BBE1-CC695E3CA26B}"/>
              </a:ext>
            </a:extLst>
          </p:cNvPr>
          <p:cNvSpPr>
            <a:spLocks noGrp="1"/>
          </p:cNvSpPr>
          <p:nvPr/>
        </p:nvSpPr>
        <p:spPr>
          <a:xfrm>
            <a:off x="7524750" y="3048000"/>
            <a:ext cx="4000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Coordina la espera sin busy waiting; el Selector no se detiene.</a:t>
            </a:r>
          </a:p>
        </p:txBody>
      </p:sp>
      <p:sp>
        <p:nvSpPr>
          <p:cNvPr id="24" name="explain-row-rule-1">
            <a:extLst>
              <a:ext uri="{FF2B5EF4-FFF2-40B4-BE49-F238E27FC236}">
                <a16:creationId xmlns:a16="http://schemas.microsoft.com/office/drawing/2014/main" id="{D1045945-C501-4A3A-8D74-891AF33FB0BA}"/>
              </a:ext>
            </a:extLst>
          </p:cNvPr>
          <p:cNvSpPr>
            <a:spLocks noGrp="1"/>
          </p:cNvSpPr>
          <p:nvPr/>
        </p:nvSpPr>
        <p:spPr>
          <a:xfrm>
            <a:off x="1028700" y="3667125"/>
            <a:ext cx="104965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5" name="explain-dot-2">
            <a:extLst>
              <a:ext uri="{FF2B5EF4-FFF2-40B4-BE49-F238E27FC236}">
                <a16:creationId xmlns:a16="http://schemas.microsoft.com/office/drawing/2014/main" id="{33885971-53A3-4E99-89D5-C67E62C254C6}"/>
              </a:ext>
            </a:extLst>
          </p:cNvPr>
          <p:cNvSpPr>
            <a:spLocks noGrp="1"/>
          </p:cNvSpPr>
          <p:nvPr/>
        </p:nvSpPr>
        <p:spPr>
          <a:xfrm>
            <a:off x="523875" y="3819525"/>
            <a:ext cx="190500" cy="190500"/>
          </a:xfrm>
          <a:prstGeom prst="ellipse">
            <a:avLst/>
          </a:prstGeom>
          <a:solidFill>
            <a:srgbClr val="2E9D72"/>
          </a:solidFill>
          <a:ln w="0">
            <a:solidFill>
              <a:srgbClr val="2E9D7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26" name="explain-number-2">
            <a:extLst>
              <a:ext uri="{FF2B5EF4-FFF2-40B4-BE49-F238E27FC236}">
                <a16:creationId xmlns:a16="http://schemas.microsoft.com/office/drawing/2014/main" id="{3B710C84-935B-41B2-AA27-0DDA9556BA9F}"/>
              </a:ext>
            </a:extLst>
          </p:cNvPr>
          <p:cNvSpPr>
            <a:spLocks noGrp="1"/>
          </p:cNvSpPr>
          <p:nvPr/>
        </p:nvSpPr>
        <p:spPr>
          <a:xfrm>
            <a:off x="742950" y="381952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2E9D7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2E9D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7" name="explain-decision-2">
            <a:extLst>
              <a:ext uri="{FF2B5EF4-FFF2-40B4-BE49-F238E27FC236}">
                <a16:creationId xmlns:a16="http://schemas.microsoft.com/office/drawing/2014/main" id="{93B49591-D555-44A5-B93F-C3E5478CD9B4}"/>
              </a:ext>
            </a:extLst>
          </p:cNvPr>
          <p:cNvSpPr>
            <a:spLocks noGrp="1"/>
          </p:cNvSpPr>
          <p:nvPr/>
        </p:nvSpPr>
        <p:spPr>
          <a:xfrm>
            <a:off x="1028700" y="3724275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ClientState + FIFO + CAS</a:t>
            </a:r>
          </a:p>
        </p:txBody>
      </p:sp>
      <p:sp>
        <p:nvSpPr>
          <p:cNvPr id="28" name="explain-file-2">
            <a:extLst>
              <a:ext uri="{FF2B5EF4-FFF2-40B4-BE49-F238E27FC236}">
                <a16:creationId xmlns:a16="http://schemas.microsoft.com/office/drawing/2014/main" id="{F0DE38FE-36E1-4AAF-9A3A-E454D4BB7051}"/>
              </a:ext>
            </a:extLst>
          </p:cNvPr>
          <p:cNvSpPr>
            <a:spLocks noGrp="1"/>
          </p:cNvSpPr>
          <p:nvPr/>
        </p:nvSpPr>
        <p:spPr>
          <a:xfrm>
            <a:off x="1028700" y="4010025"/>
            <a:ext cx="2905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2E9D7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2E9D72"/>
                </a:solidFill>
                <a:latin typeface="Courier New"/>
                <a:ea typeface="Courier New"/>
                <a:cs typeface="Courier New"/>
              </a:rPr>
              <a:t>ClientState.java · schedule()</a:t>
            </a:r>
          </a:p>
        </p:txBody>
      </p:sp>
      <p:sp>
        <p:nvSpPr>
          <p:cNvPr id="29" name="explain-where-2">
            <a:extLst>
              <a:ext uri="{FF2B5EF4-FFF2-40B4-BE49-F238E27FC236}">
                <a16:creationId xmlns:a16="http://schemas.microsoft.com/office/drawing/2014/main" id="{AAA2FBA8-A518-411A-B11B-338F0A920BB2}"/>
              </a:ext>
            </a:extLst>
          </p:cNvPr>
          <p:cNvSpPr>
            <a:spLocks noGrp="1"/>
          </p:cNvSpPr>
          <p:nvPr/>
        </p:nvSpPr>
        <p:spPr>
          <a:xfrm>
            <a:off x="4095750" y="3781425"/>
            <a:ext cx="3000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pending conserva orden; scheduled usa compareAndSet.</a:t>
            </a:r>
          </a:p>
        </p:txBody>
      </p:sp>
      <p:sp>
        <p:nvSpPr>
          <p:cNvPr id="30" name="explain-why-2">
            <a:extLst>
              <a:ext uri="{FF2B5EF4-FFF2-40B4-BE49-F238E27FC236}">
                <a16:creationId xmlns:a16="http://schemas.microsoft.com/office/drawing/2014/main" id="{38170765-AFEB-4683-8BB2-8ECFC87E72C3}"/>
              </a:ext>
            </a:extLst>
          </p:cNvPr>
          <p:cNvSpPr>
            <a:spLocks noGrp="1"/>
          </p:cNvSpPr>
          <p:nvPr/>
        </p:nvSpPr>
        <p:spPr>
          <a:xfrm>
            <a:off x="7524750" y="3781425"/>
            <a:ext cx="4000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Una entrada por cliente: serial por cliente, paralelo entre clientes.</a:t>
            </a:r>
          </a:p>
        </p:txBody>
      </p:sp>
      <p:sp>
        <p:nvSpPr>
          <p:cNvPr id="31" name="explain-row-rule-2">
            <a:extLst>
              <a:ext uri="{FF2B5EF4-FFF2-40B4-BE49-F238E27FC236}">
                <a16:creationId xmlns:a16="http://schemas.microsoft.com/office/drawing/2014/main" id="{F613A488-C438-4302-8EA0-D239E7F6B157}"/>
              </a:ext>
            </a:extLst>
          </p:cNvPr>
          <p:cNvSpPr>
            <a:spLocks noGrp="1"/>
          </p:cNvSpPr>
          <p:nvPr/>
        </p:nvSpPr>
        <p:spPr>
          <a:xfrm>
            <a:off x="1028700" y="4400550"/>
            <a:ext cx="104965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2" name="explain-dot-3">
            <a:extLst>
              <a:ext uri="{FF2B5EF4-FFF2-40B4-BE49-F238E27FC236}">
                <a16:creationId xmlns:a16="http://schemas.microsoft.com/office/drawing/2014/main" id="{01542F40-1BFE-41A0-BB4D-3AD703FE6817}"/>
              </a:ext>
            </a:extLst>
          </p:cNvPr>
          <p:cNvSpPr>
            <a:spLocks noGrp="1"/>
          </p:cNvSpPr>
          <p:nvPr/>
        </p:nvSpPr>
        <p:spPr>
          <a:xfrm>
            <a:off x="523875" y="4552950"/>
            <a:ext cx="190500" cy="190500"/>
          </a:xfrm>
          <a:prstGeom prst="ellipse">
            <a:avLst/>
          </a:prstGeom>
          <a:solidFill>
            <a:srgbClr val="F4B942"/>
          </a:solidFill>
          <a:ln w="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3" name="explain-number-3">
            <a:extLst>
              <a:ext uri="{FF2B5EF4-FFF2-40B4-BE49-F238E27FC236}">
                <a16:creationId xmlns:a16="http://schemas.microsoft.com/office/drawing/2014/main" id="{E547863B-A9EB-48F7-A522-5D9F8AF4F3D2}"/>
              </a:ext>
            </a:extLst>
          </p:cNvPr>
          <p:cNvSpPr>
            <a:spLocks noGrp="1"/>
          </p:cNvSpPr>
          <p:nvPr/>
        </p:nvSpPr>
        <p:spPr>
          <a:xfrm>
            <a:off x="742950" y="4552950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F4B94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4" name="explain-decision-3">
            <a:extLst>
              <a:ext uri="{FF2B5EF4-FFF2-40B4-BE49-F238E27FC236}">
                <a16:creationId xmlns:a16="http://schemas.microsoft.com/office/drawing/2014/main" id="{1B7B21B0-BCEE-43FF-A5A7-15C1BECEAB55}"/>
              </a:ext>
            </a:extLst>
          </p:cNvPr>
          <p:cNvSpPr>
            <a:spLocks noGrp="1"/>
          </p:cNvSpPr>
          <p:nvPr/>
        </p:nvSpPr>
        <p:spPr>
          <a:xfrm>
            <a:off x="1028700" y="4457700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WorkerPool fijo</a:t>
            </a:r>
          </a:p>
        </p:txBody>
      </p:sp>
      <p:sp>
        <p:nvSpPr>
          <p:cNvPr id="35" name="explain-file-3">
            <a:extLst>
              <a:ext uri="{FF2B5EF4-FFF2-40B4-BE49-F238E27FC236}">
                <a16:creationId xmlns:a16="http://schemas.microsoft.com/office/drawing/2014/main" id="{1193B4C0-E24E-41BE-8D4E-2EFD6F9F7A21}"/>
              </a:ext>
            </a:extLst>
          </p:cNvPr>
          <p:cNvSpPr>
            <a:spLocks noGrp="1"/>
          </p:cNvSpPr>
          <p:nvPr/>
        </p:nvSpPr>
        <p:spPr>
          <a:xfrm>
            <a:off x="1028700" y="4743450"/>
            <a:ext cx="2905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 fontScale="90404"/>
          </a:bodyPr>
          <a:lstStyle/>
          <a:p>
            <a:pPr algn="l">
              <a:buNone/>
              <a:defRPr sz="1050" b="0" i="0">
                <a:solidFill>
                  <a:srgbClr val="F4B942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F4B942"/>
                </a:solidFill>
                <a:latin typeface="Courier New"/>
                <a:ea typeface="Courier New"/>
                <a:cs typeface="Courier New"/>
              </a:rPr>
              <a:t>Main.java · Worker.java · ChatLogic.java</a:t>
            </a:r>
          </a:p>
        </p:txBody>
      </p:sp>
      <p:sp>
        <p:nvSpPr>
          <p:cNvPr id="36" name="explain-where-3">
            <a:extLst>
              <a:ext uri="{FF2B5EF4-FFF2-40B4-BE49-F238E27FC236}">
                <a16:creationId xmlns:a16="http://schemas.microsoft.com/office/drawing/2014/main" id="{C5B11E4B-C270-4A21-9913-CD4F1DFE5B3D}"/>
              </a:ext>
            </a:extLst>
          </p:cNvPr>
          <p:cNvSpPr>
            <a:spLocks noGrp="1"/>
          </p:cNvSpPr>
          <p:nvPr/>
        </p:nvSpPr>
        <p:spPr>
          <a:xfrm>
            <a:off x="4095750" y="4514850"/>
            <a:ext cx="3000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4 hilos toman una Task y procesan privado o grupal.</a:t>
            </a:r>
          </a:p>
        </p:txBody>
      </p:sp>
      <p:sp>
        <p:nvSpPr>
          <p:cNvPr id="37" name="explain-why-3">
            <a:extLst>
              <a:ext uri="{FF2B5EF4-FFF2-40B4-BE49-F238E27FC236}">
                <a16:creationId xmlns:a16="http://schemas.microsoft.com/office/drawing/2014/main" id="{877C52B3-8C07-4A37-97F3-77EF8ED645CC}"/>
              </a:ext>
            </a:extLst>
          </p:cNvPr>
          <p:cNvSpPr>
            <a:spLocks noGrp="1"/>
          </p:cNvSpPr>
          <p:nvPr/>
        </p:nvSpPr>
        <p:spPr>
          <a:xfrm>
            <a:off x="7524750" y="4514850"/>
            <a:ext cx="4000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Separa I/O de lógica y permite paralelismo entre clientes.</a:t>
            </a:r>
          </a:p>
        </p:txBody>
      </p:sp>
      <p:sp>
        <p:nvSpPr>
          <p:cNvPr id="38" name="explain-row-rule-3">
            <a:extLst>
              <a:ext uri="{FF2B5EF4-FFF2-40B4-BE49-F238E27FC236}">
                <a16:creationId xmlns:a16="http://schemas.microsoft.com/office/drawing/2014/main" id="{094265A8-3D38-45DF-8EC4-8429855766DE}"/>
              </a:ext>
            </a:extLst>
          </p:cNvPr>
          <p:cNvSpPr>
            <a:spLocks noGrp="1"/>
          </p:cNvSpPr>
          <p:nvPr/>
        </p:nvSpPr>
        <p:spPr>
          <a:xfrm>
            <a:off x="1028700" y="5133975"/>
            <a:ext cx="10496550" cy="0"/>
          </a:xfrm>
          <a:prstGeom prst="line">
            <a:avLst/>
          </a:prstGeom>
          <a:noFill/>
          <a:ln w="9525">
            <a:solidFill>
              <a:srgbClr val="CBD1D8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39" name="explain-dot-4">
            <a:extLst>
              <a:ext uri="{FF2B5EF4-FFF2-40B4-BE49-F238E27FC236}">
                <a16:creationId xmlns:a16="http://schemas.microsoft.com/office/drawing/2014/main" id="{0D564CD8-702B-416D-8B51-2CCA8A5129B4}"/>
              </a:ext>
            </a:extLst>
          </p:cNvPr>
          <p:cNvSpPr>
            <a:spLocks noGrp="1"/>
          </p:cNvSpPr>
          <p:nvPr/>
        </p:nvSpPr>
        <p:spPr>
          <a:xfrm>
            <a:off x="523875" y="5286375"/>
            <a:ext cx="190500" cy="190500"/>
          </a:xfrm>
          <a:prstGeom prst="ellipse">
            <a:avLst/>
          </a:prstGeom>
          <a:solidFill>
            <a:srgbClr val="D85C5C"/>
          </a:solidFill>
          <a:ln w="0">
            <a:solidFill>
              <a:srgbClr val="D85C5C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0" name="explain-number-4">
            <a:extLst>
              <a:ext uri="{FF2B5EF4-FFF2-40B4-BE49-F238E27FC236}">
                <a16:creationId xmlns:a16="http://schemas.microsoft.com/office/drawing/2014/main" id="{48C94192-6208-40DD-8FD2-E5FF969F5375}"/>
              </a:ext>
            </a:extLst>
          </p:cNvPr>
          <p:cNvSpPr>
            <a:spLocks noGrp="1"/>
          </p:cNvSpPr>
          <p:nvPr/>
        </p:nvSpPr>
        <p:spPr>
          <a:xfrm>
            <a:off x="742950" y="5286375"/>
            <a:ext cx="2667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900" b="1" i="0">
                <a:solidFill>
                  <a:srgbClr val="D85C5C"/>
                </a:solidFill>
                <a:latin typeface="Arial"/>
                <a:ea typeface="Arial"/>
                <a:cs typeface="Arial"/>
              </a:defRPr>
            </a:pPr>
            <a:r>
              <a:rPr sz="900" b="1" i="0">
                <a:solidFill>
                  <a:srgbClr val="D85C5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1" name="explain-decision-4">
            <a:extLst>
              <a:ext uri="{FF2B5EF4-FFF2-40B4-BE49-F238E27FC236}">
                <a16:creationId xmlns:a16="http://schemas.microsoft.com/office/drawing/2014/main" id="{CB4BEE55-EBEC-49A7-8D3E-9C1D53E6D8BC}"/>
              </a:ext>
            </a:extLst>
          </p:cNvPr>
          <p:cNvSpPr>
            <a:spLocks noGrp="1"/>
          </p:cNvSpPr>
          <p:nvPr/>
        </p:nvSpPr>
        <p:spPr>
          <a:xfrm>
            <a:off x="1028700" y="5191125"/>
            <a:ext cx="2905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425" b="1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Salida dirigida por Selector</a:t>
            </a:r>
          </a:p>
        </p:txBody>
      </p:sp>
      <p:sp>
        <p:nvSpPr>
          <p:cNvPr id="42" name="explain-file-4">
            <a:extLst>
              <a:ext uri="{FF2B5EF4-FFF2-40B4-BE49-F238E27FC236}">
                <a16:creationId xmlns:a16="http://schemas.microsoft.com/office/drawing/2014/main" id="{1153FF82-F707-4090-BF9D-68AF5FB87918}"/>
              </a:ext>
            </a:extLst>
          </p:cNvPr>
          <p:cNvSpPr>
            <a:spLocks noGrp="1"/>
          </p:cNvSpPr>
          <p:nvPr/>
        </p:nvSpPr>
        <p:spPr>
          <a:xfrm>
            <a:off x="1028700" y="5476875"/>
            <a:ext cx="290512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D85C5C"/>
                </a:solidFill>
                <a:latin typeface="Courier New"/>
                <a:ea typeface="Courier New"/>
                <a:cs typeface="Courier New"/>
              </a:defRPr>
            </a:pPr>
            <a:r>
              <a:rPr sz="1050" b="0" i="0">
                <a:solidFill>
                  <a:srgbClr val="D85C5C"/>
                </a:solidFill>
                <a:latin typeface="Courier New"/>
                <a:ea typeface="Courier New"/>
                <a:cs typeface="Courier New"/>
              </a:rPr>
              <a:t>send() · Command.java · OP_WRITE</a:t>
            </a:r>
          </a:p>
        </p:txBody>
      </p:sp>
      <p:sp>
        <p:nvSpPr>
          <p:cNvPr id="43" name="explain-where-4">
            <a:extLst>
              <a:ext uri="{FF2B5EF4-FFF2-40B4-BE49-F238E27FC236}">
                <a16:creationId xmlns:a16="http://schemas.microsoft.com/office/drawing/2014/main" id="{8292DB89-5D49-49EA-9FE4-FA57C45A53B4}"/>
              </a:ext>
            </a:extLst>
          </p:cNvPr>
          <p:cNvSpPr>
            <a:spLocks noGrp="1"/>
          </p:cNvSpPr>
          <p:nvPr/>
        </p:nvSpPr>
        <p:spPr>
          <a:xfrm>
            <a:off x="4095750" y="5248275"/>
            <a:ext cx="3000375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outputQueue recibe bytes; EnableWrite + wakeup() avisan al Selector.</a:t>
            </a:r>
          </a:p>
        </p:txBody>
      </p:sp>
      <p:sp>
        <p:nvSpPr>
          <p:cNvPr id="44" name="explain-why-4">
            <a:extLst>
              <a:ext uri="{FF2B5EF4-FFF2-40B4-BE49-F238E27FC236}">
                <a16:creationId xmlns:a16="http://schemas.microsoft.com/office/drawing/2014/main" id="{F59ED259-0BB4-4709-8982-A15AE915B008}"/>
              </a:ext>
            </a:extLst>
          </p:cNvPr>
          <p:cNvSpPr>
            <a:spLocks noGrp="1"/>
          </p:cNvSpPr>
          <p:nvPr/>
        </p:nvSpPr>
        <p:spPr>
          <a:xfrm>
            <a:off x="7524750" y="5248275"/>
            <a:ext cx="40005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10182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01820"/>
                </a:solidFill>
                <a:latin typeface="Arial"/>
                <a:ea typeface="Arial"/>
                <a:cs typeface="Arial"/>
              </a:rPr>
              <a:t>Solo Selector cambia interestOps y escribe por el socket.</a:t>
            </a:r>
          </a:p>
        </p:txBody>
      </p:sp>
      <p:sp>
        <p:nvSpPr>
          <p:cNvPr id="45" name="explain-takeaway-rule">
            <a:extLst>
              <a:ext uri="{FF2B5EF4-FFF2-40B4-BE49-F238E27FC236}">
                <a16:creationId xmlns:a16="http://schemas.microsoft.com/office/drawing/2014/main" id="{D263FB83-CDE5-4BFA-B3A5-985341560808}"/>
              </a:ext>
            </a:extLst>
          </p:cNvPr>
          <p:cNvSpPr>
            <a:spLocks noGrp="1"/>
          </p:cNvSpPr>
          <p:nvPr/>
        </p:nvSpPr>
        <p:spPr>
          <a:xfrm>
            <a:off x="1028700" y="6000750"/>
            <a:ext cx="10496550" cy="0"/>
          </a:xfrm>
          <a:prstGeom prst="line">
            <a:avLst/>
          </a:prstGeom>
          <a:noFill/>
          <a:ln w="19050">
            <a:solidFill>
              <a:srgbClr val="16324F"/>
            </a:solidFill>
            <a:prstDash val="solid"/>
          </a:ln>
        </p:spPr>
        <p:txBody>
          <a:bodyPr/>
          <a:lstStyle/>
          <a:p>
            <a:endParaRPr lang="en-CO"/>
          </a:p>
        </p:txBody>
      </p:sp>
      <p:sp>
        <p:nvSpPr>
          <p:cNvPr id="46" name="explain-takeaway">
            <a:extLst>
              <a:ext uri="{FF2B5EF4-FFF2-40B4-BE49-F238E27FC236}">
                <a16:creationId xmlns:a16="http://schemas.microsoft.com/office/drawing/2014/main" id="{D8A2ED0F-3482-495F-9F39-9240FB81A32D}"/>
              </a:ext>
            </a:extLst>
          </p:cNvPr>
          <p:cNvSpPr>
            <a:spLocks noGrp="1"/>
          </p:cNvSpPr>
          <p:nvPr/>
        </p:nvSpPr>
        <p:spPr>
          <a:xfrm>
            <a:off x="1028700" y="6124575"/>
            <a:ext cx="885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Resultado: sincronización localizada, sin mutex global y con orden garantizado por cliente.</a:t>
            </a:r>
          </a:p>
        </p:txBody>
      </p:sp>
      <p:sp>
        <p:nvSpPr>
          <p:cNvPr id="47" name="explain-page">
            <a:extLst>
              <a:ext uri="{FF2B5EF4-FFF2-40B4-BE49-F238E27FC236}">
                <a16:creationId xmlns:a16="http://schemas.microsoft.com/office/drawing/2014/main" id="{ADC80357-0B6E-45A0-8820-0FD698EDAFF1}"/>
              </a:ext>
            </a:extLst>
          </p:cNvPr>
          <p:cNvSpPr>
            <a:spLocks noGrp="1"/>
          </p:cNvSpPr>
          <p:nvPr/>
        </p:nvSpPr>
        <p:spPr>
          <a:xfrm>
            <a:off x="10858500" y="6457950"/>
            <a:ext cx="933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t">
            <a:normAutofit/>
          </a:bodyPr>
          <a:lstStyle/>
          <a:p>
            <a:pPr algn="r">
              <a:buNone/>
              <a:defRPr sz="825" b="0" i="0">
                <a:solidFill>
                  <a:srgbClr val="59636E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59636E"/>
                </a:solidFill>
                <a:latin typeface="Arial"/>
                <a:ea typeface="Arial"/>
                <a:cs typeface="Arial"/>
              </a:rPr>
              <a:t>02 / 03</a:t>
            </a:r>
          </a:p>
        </p:txBody>
      </p:sp>
    </p:spTree>
    <p:extLst>
      <p:ext uri="{BB962C8B-B14F-4D97-AF65-F5344CB8AC3E}">
        <p14:creationId xmlns:p14="http://schemas.microsoft.com/office/powerpoint/2010/main" val="3076695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1224</Words>
  <Application>Microsoft Macintosh PowerPoint</Application>
  <DocSecurity>0</DocSecurity>
  <PresentationFormat>Widescreen</PresentationFormat>
  <Paragraphs>162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Courier New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Sofia Santis Silva</cp:lastModifiedBy>
  <cp:revision>4</cp:revision>
  <dcterms:created xsi:type="dcterms:W3CDTF">2026-08-10T19:13:51Z</dcterms:created>
  <dcterms:modified xsi:type="dcterms:W3CDTF">2026-08-10T19:35:57Z</dcterms:modified>
</cp:coreProperties>
</file>